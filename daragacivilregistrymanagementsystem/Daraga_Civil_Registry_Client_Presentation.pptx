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Honorable Municipal Civil Registrar. We are here to present our proposed system for your office—not as a final product, but as a working prototype we continue to improve with your guidance.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for you and your staff. We will explain what we are building, why it matters for the Municipal Civil Registry, and show how daily tasks in your office can be supported by the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this as a digital assistant inside the registry office. Staff still verify every certificate; the system helps scan, encode, find, print, and track corrections—while you stay in control as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objectives came from how civil registry offices operate: accuracy, privacy, speed of service, and clear authority over corrections.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functions your office needs. Our prototype already supports most of them; some areas we will refine after your feedback.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show these features live. Focus on whether they match how your staff actually process clients and certificates.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job your encoders already do—we are integrating their steps into Scan Workflow and Archiving.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replacing your registry rules—we are supporting them with faster lookup and a clear digital trail.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our instructor advised, we do not claim the system is complete. Your comments today will help us prioritize what to improve next.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Ma'am/Sir, we will now switch to the live system. Please watch how staff and administrator roles work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Honorable Municipal Civil Registrar, for your time. We are ready for your questions and for guidance on what to improve before the system is ready for daily use in your office.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548640" y="914400"/>
            <a:ext cx="8046720" cy="1005840"/>
          </a:xfrm>
          <a:prstGeom prst="rect">
            <a:avLst/>
          </a:prstGeom>
          <a:noFill/>
        </p:spPr>
        <p:txBody>
          <a:bodyPr wrap="square">
            <a:spAutoFit/>
          </a:bodyPr>
          <a:lstStyle/>
          <a:p>
            <a:pPr algn="ctr">
              <a:defRPr sz="3400" b="1">
                <a:solidFill>
                  <a:srgbClr val="FFFFFF"/>
                </a:solidFill>
              </a:defRPr>
            </a:pPr>
            <a:r>
              <a:t>Daraga Civil Registry Management System</a:t>
            </a:r>
          </a:p>
        </p:txBody>
      </p:sp>
      <p:sp>
        <p:nvSpPr>
          <p:cNvPr id="3" name="TextBox 2"/>
          <p:cNvSpPr txBox="1"/>
          <p:nvPr/>
        </p:nvSpPr>
        <p:spPr>
          <a:xfrm>
            <a:off x="548640" y="1920240"/>
            <a:ext cx="8046720" cy="594360"/>
          </a:xfrm>
          <a:prstGeom prst="rect">
            <a:avLst/>
          </a:prstGeom>
          <a:noFill/>
        </p:spPr>
        <p:txBody>
          <a:bodyPr wrap="square">
            <a:spAutoFit/>
          </a:bodyPr>
          <a:lstStyle/>
          <a:p>
            <a:pPr algn="ctr">
              <a:defRPr sz="1900" b="0">
                <a:solidFill>
                  <a:srgbClr val="B48C28"/>
                </a:solidFill>
              </a:defRPr>
            </a:pPr>
            <a:r>
              <a:t>Municipal Civil Registry Office — LGU Daraga, Albay</a:t>
            </a:r>
          </a:p>
        </p:txBody>
      </p:sp>
      <p:sp>
        <p:nvSpPr>
          <p:cNvPr id="4" name="TextBox 3"/>
          <p:cNvSpPr txBox="1"/>
          <p:nvPr/>
        </p:nvSpPr>
        <p:spPr>
          <a:xfrm>
            <a:off x="1097280" y="2697480"/>
            <a:ext cx="6949440" cy="384048"/>
          </a:xfrm>
          <a:prstGeom prst="rect">
            <a:avLst/>
          </a:prstGeom>
          <a:noFill/>
        </p:spPr>
        <p:txBody>
          <a:bodyPr wrap="square">
            <a:spAutoFit/>
          </a:bodyPr>
          <a:lstStyle/>
          <a:p>
            <a:pPr algn="ctr">
              <a:defRPr sz="1500" b="1">
                <a:solidFill>
                  <a:srgbClr val="FFFFFF"/>
                </a:solidFill>
              </a:defRPr>
            </a:pPr>
            <a:r>
              <a:t>Client Presentation</a:t>
            </a:r>
          </a:p>
        </p:txBody>
      </p:sp>
      <p:sp>
        <p:nvSpPr>
          <p:cNvPr id="5" name="TextBox 4"/>
          <p:cNvSpPr txBox="1"/>
          <p:nvPr/>
        </p:nvSpPr>
        <p:spPr>
          <a:xfrm>
            <a:off x="1097280" y="3026664"/>
            <a:ext cx="6949440" cy="384048"/>
          </a:xfrm>
          <a:prstGeom prst="rect">
            <a:avLst/>
          </a:prstGeom>
          <a:noFill/>
        </p:spPr>
        <p:txBody>
          <a:bodyPr wrap="square">
            <a:spAutoFit/>
          </a:bodyPr>
          <a:lstStyle/>
          <a:p>
            <a:pPr algn="ctr">
              <a:defRPr sz="1500" b="0">
                <a:solidFill>
                  <a:srgbClr val="FFFFFF"/>
                </a:solidFill>
              </a:defRPr>
            </a:pPr>
            <a:r>
              <a:t>May 25, 2026</a:t>
            </a:r>
          </a:p>
        </p:txBody>
      </p:sp>
      <p:sp>
        <p:nvSpPr>
          <p:cNvPr id="6" name="TextBox 5"/>
          <p:cNvSpPr txBox="1"/>
          <p:nvPr/>
        </p:nvSpPr>
        <p:spPr>
          <a:xfrm>
            <a:off x="1097280" y="3465576"/>
            <a:ext cx="6949440" cy="384048"/>
          </a:xfrm>
          <a:prstGeom prst="rect">
            <a:avLst/>
          </a:prstGeom>
          <a:noFill/>
        </p:spPr>
        <p:txBody>
          <a:bodyPr wrap="square">
            <a:spAutoFit/>
          </a:bodyPr>
          <a:lstStyle/>
          <a:p>
            <a:pPr algn="ctr">
              <a:defRPr sz="1500" b="1">
                <a:solidFill>
                  <a:srgbClr val="FFFFFF"/>
                </a:solidFill>
              </a:defRPr>
            </a:pPr>
            <a:r>
              <a:t>Presented by:</a:t>
            </a:r>
          </a:p>
        </p:txBody>
      </p:sp>
      <p:sp>
        <p:nvSpPr>
          <p:cNvPr id="7" name="TextBox 6"/>
          <p:cNvSpPr txBox="1"/>
          <p:nvPr/>
        </p:nvSpPr>
        <p:spPr>
          <a:xfrm>
            <a:off x="1097280" y="3794760"/>
            <a:ext cx="6949440" cy="384048"/>
          </a:xfrm>
          <a:prstGeom prst="rect">
            <a:avLst/>
          </a:prstGeom>
          <a:noFill/>
        </p:spPr>
        <p:txBody>
          <a:bodyPr wrap="square">
            <a:spAutoFit/>
          </a:bodyPr>
          <a:lstStyle/>
          <a:p>
            <a:pPr algn="ctr">
              <a:defRPr sz="1500" b="0">
                <a:solidFill>
                  <a:srgbClr val="FFFFFF"/>
                </a:solidFill>
              </a:defRPr>
            </a:pPr>
            <a:r>
              <a:t>Mark Jhon M. Guillermo</a:t>
            </a:r>
          </a:p>
        </p:txBody>
      </p:sp>
      <p:sp>
        <p:nvSpPr>
          <p:cNvPr id="8" name="TextBox 7"/>
          <p:cNvSpPr txBox="1"/>
          <p:nvPr/>
        </p:nvSpPr>
        <p:spPr>
          <a:xfrm>
            <a:off x="1097280" y="4123944"/>
            <a:ext cx="6949440" cy="384048"/>
          </a:xfrm>
          <a:prstGeom prst="rect">
            <a:avLst/>
          </a:prstGeom>
          <a:noFill/>
        </p:spPr>
        <p:txBody>
          <a:bodyPr wrap="square">
            <a:spAutoFit/>
          </a:bodyPr>
          <a:lstStyle/>
          <a:p>
            <a:pPr algn="ctr">
              <a:defRPr sz="1500" b="0">
                <a:solidFill>
                  <a:srgbClr val="FFFFFF"/>
                </a:solidFill>
              </a:defRPr>
            </a:pPr>
            <a:r>
              <a:t>Rod B. Rañola</a:t>
            </a:r>
          </a:p>
        </p:txBody>
      </p:sp>
      <p:sp>
        <p:nvSpPr>
          <p:cNvPr id="9" name="TextBox 8"/>
          <p:cNvSpPr txBox="1"/>
          <p:nvPr/>
        </p:nvSpPr>
        <p:spPr>
          <a:xfrm>
            <a:off x="1097280" y="4453128"/>
            <a:ext cx="6949440" cy="384048"/>
          </a:xfrm>
          <a:prstGeom prst="rect">
            <a:avLst/>
          </a:prstGeom>
          <a:noFill/>
        </p:spPr>
        <p:txBody>
          <a:bodyPr wrap="square">
            <a:spAutoFit/>
          </a:bodyPr>
          <a:lstStyle/>
          <a:p>
            <a:pPr algn="ctr">
              <a:defRPr sz="1500" b="0">
                <a:solidFill>
                  <a:srgbClr val="FFFFFF"/>
                </a:solidFill>
              </a:defRPr>
            </a:pPr>
            <a:r>
              <a:t>Vincent S. Macauyam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Preliminaries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2</a:t>
            </a:r>
          </a:p>
        </p:txBody>
      </p:sp>
      <p:sp>
        <p:nvSpPr>
          <p:cNvPr id="6" name="TextBox 5"/>
          <p:cNvSpPr txBox="1"/>
          <p:nvPr/>
        </p:nvSpPr>
        <p:spPr>
          <a:xfrm>
            <a:off x="594360" y="1024128"/>
            <a:ext cx="7772400" cy="365760"/>
          </a:xfrm>
          <a:prstGeom prst="rect">
            <a:avLst/>
          </a:prstGeom>
          <a:noFill/>
        </p:spPr>
        <p:txBody>
          <a:bodyPr wrap="square">
            <a:spAutoFit/>
          </a:bodyPr>
          <a:lstStyle/>
          <a:p>
            <a:pPr algn="l">
              <a:defRPr sz="1500" b="0">
                <a:solidFill>
                  <a:srgbClr val="5A646E"/>
                </a:solidFill>
              </a:defRPr>
            </a:pPr>
            <a:r>
              <a:t>What this presentation covers</a:t>
            </a:r>
          </a:p>
        </p:txBody>
      </p:sp>
      <p:sp>
        <p:nvSpPr>
          <p:cNvPr id="7" name="TextBox 6"/>
          <p:cNvSpPr txBox="1"/>
          <p:nvPr/>
        </p:nvSpPr>
        <p:spPr>
          <a:xfrm>
            <a:off x="594360" y="1417320"/>
            <a:ext cx="7955279" cy="4754880"/>
          </a:xfrm>
          <a:prstGeom prst="rect">
            <a:avLst/>
          </a:prstGeom>
          <a:noFill/>
        </p:spPr>
        <p:txBody>
          <a:bodyPr wrap="none">
            <a:spAutoFit/>
          </a:bodyPr>
          <a:lstStyle/>
          <a:p>
            <a:pPr>
              <a:spcAft>
                <a:spcPts val="800"/>
              </a:spcAft>
              <a:defRPr sz="2100">
                <a:solidFill>
                  <a:srgbClr val="212529"/>
                </a:solidFill>
              </a:defRPr>
            </a:pPr>
            <a:r>
              <a:t>Project title and brief introduction</a:t>
            </a:r>
          </a:p>
          <a:p>
            <a:pPr>
              <a:spcAft>
                <a:spcPts val="800"/>
              </a:spcAft>
              <a:defRPr sz="2100">
                <a:solidFill>
                  <a:srgbClr val="212529"/>
                </a:solidFill>
              </a:defRPr>
            </a:pPr>
            <a:r>
              <a:t>Objectives of the system</a:t>
            </a:r>
          </a:p>
          <a:p>
            <a:pPr>
              <a:spcAft>
                <a:spcPts val="800"/>
              </a:spcAft>
              <a:defRPr sz="2100">
                <a:solidFill>
                  <a:srgbClr val="212529"/>
                </a:solidFill>
              </a:defRPr>
            </a:pPr>
            <a:r>
              <a:t>Functional requirements and features</a:t>
            </a:r>
          </a:p>
          <a:p>
            <a:pPr>
              <a:spcAft>
                <a:spcPts val="800"/>
              </a:spcAft>
              <a:defRPr sz="2100">
                <a:solidFill>
                  <a:srgbClr val="212529"/>
                </a:solidFill>
              </a:defRPr>
            </a:pPr>
            <a:r>
              <a:t>How your current office workflow maps into the system</a:t>
            </a:r>
          </a:p>
          <a:p>
            <a:pPr>
              <a:spcAft>
                <a:spcPts val="800"/>
              </a:spcAft>
              <a:defRPr sz="2100">
                <a:solidFill>
                  <a:srgbClr val="212529"/>
                </a:solidFill>
              </a:defRPr>
            </a:pPr>
            <a:r>
              <a:t>Live demonstration of the prototype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Overview / Introduction</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3</a:t>
            </a:r>
          </a:p>
        </p:txBody>
      </p:sp>
      <p:sp>
        <p:nvSpPr>
          <p:cNvPr id="6" name="TextBox 5"/>
          <p:cNvSpPr txBox="1"/>
          <p:nvPr/>
        </p:nvSpPr>
        <p:spPr>
          <a:xfrm>
            <a:off x="594360" y="1024128"/>
            <a:ext cx="7772400" cy="365760"/>
          </a:xfrm>
          <a:prstGeom prst="rect">
            <a:avLst/>
          </a:prstGeom>
          <a:noFill/>
        </p:spPr>
        <p:txBody>
          <a:bodyPr wrap="square">
            <a:spAutoFit/>
          </a:bodyPr>
          <a:lstStyle/>
          <a:p>
            <a:pPr algn="l">
              <a:defRPr sz="1500" b="0">
                <a:solidFill>
                  <a:srgbClr val="5A646E"/>
                </a:solidFill>
              </a:defRPr>
            </a:pPr>
            <a:r>
              <a:t>A simple introduction to the project</a:t>
            </a:r>
          </a:p>
        </p:txBody>
      </p:sp>
      <p:sp>
        <p:nvSpPr>
          <p:cNvPr id="7" name="TextBox 6"/>
          <p:cNvSpPr txBox="1"/>
          <p:nvPr/>
        </p:nvSpPr>
        <p:spPr>
          <a:xfrm>
            <a:off x="594360" y="1417320"/>
            <a:ext cx="7955279" cy="4754880"/>
          </a:xfrm>
          <a:prstGeom prst="rect">
            <a:avLst/>
          </a:prstGeom>
          <a:noFill/>
        </p:spPr>
        <p:txBody>
          <a:bodyPr wrap="none">
            <a:spAutoFit/>
          </a:bodyPr>
          <a:lstStyle/>
          <a:p>
            <a:pPr>
              <a:spcAft>
                <a:spcPts val="800"/>
              </a:spcAft>
              <a:defRPr sz="2100">
                <a:solidFill>
                  <a:srgbClr val="212529"/>
                </a:solidFill>
              </a:defRPr>
            </a:pPr>
            <a:r>
              <a:t>A computer-based tool for the Municipal Civil Registry of Daraga, Albay</a:t>
            </a:r>
          </a:p>
          <a:p>
            <a:pPr>
              <a:spcAft>
                <a:spcPts val="800"/>
              </a:spcAft>
              <a:defRPr sz="2100">
                <a:solidFill>
                  <a:srgbClr val="212529"/>
                </a:solidFill>
              </a:defRPr>
            </a:pPr>
            <a:r>
              <a:t>Helps staff handle Birth, Marriage, and Death records in one place</a:t>
            </a:r>
          </a:p>
          <a:p>
            <a:pPr>
              <a:spcAft>
                <a:spcPts val="800"/>
              </a:spcAft>
              <a:defRPr sz="2100">
                <a:solidFill>
                  <a:srgbClr val="212529"/>
                </a:solidFill>
              </a:defRPr>
            </a:pPr>
            <a:r>
              <a:t>Runs offline on the office computer—no internet required for OCR or storage</a:t>
            </a:r>
          </a:p>
          <a:p>
            <a:pPr>
              <a:spcAft>
                <a:spcPts val="800"/>
              </a:spcAft>
              <a:defRPr sz="2100">
                <a:solidFill>
                  <a:srgbClr val="212529"/>
                </a:solidFill>
              </a:defRPr>
            </a:pPr>
            <a:r>
              <a:t>Designed around how your office already works, not around academic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Project Objectives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4</a:t>
            </a:r>
          </a:p>
        </p:txBody>
      </p:sp>
      <p:sp>
        <p:nvSpPr>
          <p:cNvPr id="6" name="TextBox 5"/>
          <p:cNvSpPr txBox="1"/>
          <p:nvPr/>
        </p:nvSpPr>
        <p:spPr>
          <a:xfrm>
            <a:off x="594360" y="1024128"/>
            <a:ext cx="7772400" cy="365760"/>
          </a:xfrm>
          <a:prstGeom prst="rect">
            <a:avLst/>
          </a:prstGeom>
          <a:noFill/>
        </p:spPr>
        <p:txBody>
          <a:bodyPr wrap="square">
            <a:spAutoFit/>
          </a:bodyPr>
          <a:lstStyle/>
          <a:p>
            <a:pPr algn="l">
              <a:defRPr sz="1500" b="0">
                <a:solidFill>
                  <a:srgbClr val="5A646E"/>
                </a:solidFill>
              </a:defRPr>
            </a:pPr>
            <a:r>
              <a:t>What we aim to achieve for the MCR office</a:t>
            </a:r>
          </a:p>
        </p:txBody>
      </p:sp>
      <p:sp>
        <p:nvSpPr>
          <p:cNvPr id="7" name="TextBox 6"/>
          <p:cNvSpPr txBox="1"/>
          <p:nvPr/>
        </p:nvSpPr>
        <p:spPr>
          <a:xfrm>
            <a:off x="594360" y="1417320"/>
            <a:ext cx="7955279" cy="4754880"/>
          </a:xfrm>
          <a:prstGeom prst="rect">
            <a:avLst/>
          </a:prstGeom>
          <a:noFill/>
        </p:spPr>
        <p:txBody>
          <a:bodyPr wrap="none">
            <a:spAutoFit/>
          </a:bodyPr>
          <a:lstStyle/>
          <a:p>
            <a:pPr>
              <a:spcAft>
                <a:spcPts val="800"/>
              </a:spcAft>
              <a:defRPr sz="2100">
                <a:solidFill>
                  <a:srgbClr val="212529"/>
                </a:solidFill>
              </a:defRPr>
            </a:pPr>
            <a:r>
              <a:t>Reduce manual re-typing by reading certificate scans locally (OCR)</a:t>
            </a:r>
          </a:p>
          <a:p>
            <a:pPr>
              <a:spcAft>
                <a:spcPts val="800"/>
              </a:spcAft>
              <a:defRPr sz="2100">
                <a:solidFill>
                  <a:srgbClr val="212529"/>
                </a:solidFill>
              </a:defRPr>
            </a:pPr>
            <a:r>
              <a:t>Keep scanned images and encoded data together in a digital archive</a:t>
            </a:r>
          </a:p>
          <a:p>
            <a:pPr>
              <a:spcAft>
                <a:spcPts val="800"/>
              </a:spcAft>
              <a:defRPr sz="2100">
                <a:solidFill>
                  <a:srgbClr val="212529"/>
                </a:solidFill>
              </a:defRPr>
            </a:pPr>
            <a:r>
              <a:t>Find records faster by registry number, name, or document type</a:t>
            </a:r>
          </a:p>
          <a:p>
            <a:pPr>
              <a:spcAft>
                <a:spcPts val="800"/>
              </a:spcAft>
              <a:defRPr sz="2100">
                <a:solidFill>
                  <a:srgbClr val="212529"/>
                </a:solidFill>
              </a:defRPr>
            </a:pPr>
            <a:r>
              <a:t>Log every print and every approved correction for accountability</a:t>
            </a:r>
          </a:p>
          <a:p>
            <a:pPr>
              <a:spcAft>
                <a:spcPts val="800"/>
              </a:spcAft>
              <a:defRPr sz="2100">
                <a:solidFill>
                  <a:srgbClr val="212529"/>
                </a:solidFill>
              </a:defRPr>
            </a:pPr>
            <a:r>
              <a:t>Protect records: staff cannot change archived data without your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Functional Requirements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5</a:t>
            </a:r>
          </a:p>
        </p:txBody>
      </p:sp>
      <p:sp>
        <p:nvSpPr>
          <p:cNvPr id="6" name="TextBox 5"/>
          <p:cNvSpPr txBox="1"/>
          <p:nvPr/>
        </p:nvSpPr>
        <p:spPr>
          <a:xfrm>
            <a:off x="594360" y="1024128"/>
            <a:ext cx="7772400" cy="365760"/>
          </a:xfrm>
          <a:prstGeom prst="rect">
            <a:avLst/>
          </a:prstGeom>
          <a:noFill/>
        </p:spPr>
        <p:txBody>
          <a:bodyPr wrap="square">
            <a:spAutoFit/>
          </a:bodyPr>
          <a:lstStyle/>
          <a:p>
            <a:pPr algn="l">
              <a:defRPr sz="1500" b="0">
                <a:solidFill>
                  <a:srgbClr val="5A646E"/>
                </a:solidFill>
              </a:defRPr>
            </a:pPr>
            <a:r>
              <a:t>What the system must do (client view)</a:t>
            </a:r>
          </a:p>
        </p:txBody>
      </p:sp>
      <p:sp>
        <p:nvSpPr>
          <p:cNvPr id="7" name="TextBox 6"/>
          <p:cNvSpPr txBox="1"/>
          <p:nvPr/>
        </p:nvSpPr>
        <p:spPr>
          <a:xfrm>
            <a:off x="594360" y="1417320"/>
            <a:ext cx="7955279" cy="4754880"/>
          </a:xfrm>
          <a:prstGeom prst="rect">
            <a:avLst/>
          </a:prstGeom>
          <a:noFill/>
        </p:spPr>
        <p:txBody>
          <a:bodyPr wrap="none">
            <a:spAutoFit/>
          </a:bodyPr>
          <a:lstStyle/>
          <a:p>
            <a:pPr>
              <a:spcAft>
                <a:spcPts val="800"/>
              </a:spcAft>
              <a:defRPr sz="2100">
                <a:solidFill>
                  <a:srgbClr val="212529"/>
                </a:solidFill>
              </a:defRPr>
            </a:pPr>
            <a:r>
              <a:t>Register and store Birth, Marriage, and Death records with scanned image</a:t>
            </a:r>
          </a:p>
          <a:p>
            <a:pPr>
              <a:spcAft>
                <a:spcPts val="800"/>
              </a:spcAft>
              <a:defRPr sz="2100">
                <a:solidFill>
                  <a:srgbClr val="212529"/>
                </a:solidFill>
              </a:defRPr>
            </a:pPr>
            <a:r>
              <a:t>Extract text from certificate images using local OCR; staff review before saving</a:t>
            </a:r>
          </a:p>
          <a:p>
            <a:pPr>
              <a:spcAft>
                <a:spcPts val="800"/>
              </a:spcAft>
              <a:defRPr sz="2100">
                <a:solidFill>
                  <a:srgbClr val="212529"/>
                </a:solidFill>
              </a:defRPr>
            </a:pPr>
            <a:r>
              <a:t>Search and open records; view image beside encoded fields</a:t>
            </a:r>
          </a:p>
          <a:p>
            <a:pPr>
              <a:spcAft>
                <a:spcPts val="800"/>
              </a:spcAft>
              <a:defRPr sz="2100">
                <a:solidFill>
                  <a:srgbClr val="212529"/>
                </a:solidFill>
              </a:defRPr>
            </a:pPr>
            <a:r>
              <a:t>Print records; automatically log user, record, and date/time</a:t>
            </a:r>
          </a:p>
          <a:p>
            <a:pPr>
              <a:spcAft>
                <a:spcPts val="800"/>
              </a:spcAft>
              <a:defRPr sz="2100">
                <a:solidFill>
                  <a:srgbClr val="212529"/>
                </a:solidFill>
              </a:defRPr>
            </a:pPr>
            <a:r>
              <a:t>Staff submit edit requests; administrator approves and issues one-time code</a:t>
            </a:r>
          </a:p>
          <a:p>
            <a:pPr>
              <a:spcAft>
                <a:spcPts val="800"/>
              </a:spcAft>
              <a:defRPr sz="2100">
                <a:solidFill>
                  <a:srgbClr val="212529"/>
                </a:solidFill>
              </a:defRPr>
            </a:pPr>
            <a:r>
              <a:t>Administrator: users, dashboard, print log, audit log, backup/restore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System Features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6</a:t>
            </a:r>
          </a:p>
        </p:txBody>
      </p:sp>
      <p:sp>
        <p:nvSpPr>
          <p:cNvPr id="6" name="TextBox 5"/>
          <p:cNvSpPr txBox="1"/>
          <p:nvPr/>
        </p:nvSpPr>
        <p:spPr>
          <a:xfrm>
            <a:off x="594360" y="1024128"/>
            <a:ext cx="7772400" cy="365760"/>
          </a:xfrm>
          <a:prstGeom prst="rect">
            <a:avLst/>
          </a:prstGeom>
          <a:noFill/>
        </p:spPr>
        <p:txBody>
          <a:bodyPr wrap="square">
            <a:spAutoFit/>
          </a:bodyPr>
          <a:lstStyle/>
          <a:p>
            <a:pPr algn="l">
              <a:defRPr sz="1500" b="0">
                <a:solidFill>
                  <a:srgbClr val="5A646E"/>
                </a:solidFill>
              </a:defRPr>
            </a:pPr>
            <a:r>
              <a:t>Main features in the prototype</a:t>
            </a:r>
          </a:p>
        </p:txBody>
      </p:sp>
      <p:sp>
        <p:nvSpPr>
          <p:cNvPr id="7" name="TextBox 6"/>
          <p:cNvSpPr txBox="1"/>
          <p:nvPr/>
        </p:nvSpPr>
        <p:spPr>
          <a:xfrm>
            <a:off x="594360" y="1417320"/>
            <a:ext cx="7955279" cy="4754880"/>
          </a:xfrm>
          <a:prstGeom prst="rect">
            <a:avLst/>
          </a:prstGeom>
          <a:noFill/>
        </p:spPr>
        <p:txBody>
          <a:bodyPr wrap="none">
            <a:spAutoFit/>
          </a:bodyPr>
          <a:lstStyle/>
          <a:p>
            <a:pPr>
              <a:spcAft>
                <a:spcPts val="800"/>
              </a:spcAft>
              <a:defRPr sz="2100">
                <a:solidFill>
                  <a:srgbClr val="212529"/>
                </a:solidFill>
              </a:defRPr>
            </a:pPr>
            <a:r>
              <a:t>Scan Workflow — upload or scan certificate, OCR, confirm to Archiving</a:t>
            </a:r>
          </a:p>
          <a:p>
            <a:pPr>
              <a:spcAft>
                <a:spcPts val="800"/>
              </a:spcAft>
              <a:defRPr sz="2100">
                <a:solidFill>
                  <a:srgbClr val="212529"/>
                </a:solidFill>
              </a:defRPr>
            </a:pPr>
            <a:r>
              <a:t>Archiving — digital vault of all saved records</a:t>
            </a:r>
          </a:p>
          <a:p>
            <a:pPr>
              <a:spcAft>
                <a:spcPts val="800"/>
              </a:spcAft>
              <a:defRPr sz="2100">
                <a:solidFill>
                  <a:srgbClr val="212529"/>
                </a:solidFill>
              </a:defRPr>
            </a:pPr>
            <a:r>
              <a:t>Search Records — quick lookup for front desk and encoders</a:t>
            </a:r>
          </a:p>
          <a:p>
            <a:pPr>
              <a:spcAft>
                <a:spcPts val="800"/>
              </a:spcAft>
              <a:defRPr sz="2100">
                <a:solidFill>
                  <a:srgbClr val="212529"/>
                </a:solidFill>
              </a:defRPr>
            </a:pPr>
            <a:r>
              <a:t>My Edit Requests (Staff) — track correction requests</a:t>
            </a:r>
          </a:p>
          <a:p>
            <a:pPr>
              <a:spcAft>
                <a:spcPts val="800"/>
              </a:spcAft>
              <a:defRPr sz="2100">
                <a:solidFill>
                  <a:srgbClr val="212529"/>
                </a:solidFill>
              </a:defRPr>
            </a:pPr>
            <a:r>
              <a:t>Administration (Registrar/Admin) — approve edits, oversight, backups</a:t>
            </a:r>
          </a:p>
          <a:p>
            <a:pPr>
              <a:spcAft>
                <a:spcPts val="800"/>
              </a:spcAft>
              <a:defRPr sz="2100">
                <a:solidFill>
                  <a:srgbClr val="212529"/>
                </a:solidFill>
              </a:defRPr>
            </a:pPr>
            <a:r>
              <a:t>Offline operation — all data stays on the office PC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Before vs After — New registration / encoding</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7</a:t>
            </a:r>
          </a:p>
        </p:txBody>
      </p:sp>
      <p:sp>
        <p:nvSpPr>
          <p:cNvPr id="6" name="TextBox 5"/>
          <p:cNvSpPr txBox="1"/>
          <p:nvPr/>
        </p:nvSpPr>
        <p:spPr>
          <a:xfrm>
            <a:off x="502920" y="1097280"/>
            <a:ext cx="3840480" cy="411480"/>
          </a:xfrm>
          <a:prstGeom prst="rect">
            <a:avLst/>
          </a:prstGeom>
          <a:noFill/>
        </p:spPr>
        <p:txBody>
          <a:bodyPr wrap="square">
            <a:spAutoFit/>
          </a:bodyPr>
          <a:lstStyle/>
          <a:p>
            <a:pPr algn="l">
              <a:defRPr sz="1800" b="1">
                <a:solidFill>
                  <a:srgbClr val="003366"/>
                </a:solidFill>
              </a:defRPr>
            </a:pPr>
            <a:r>
              <a:t>WITH THE SYSTEM</a:t>
            </a:r>
          </a:p>
        </p:txBody>
      </p:sp>
      <p:sp>
        <p:nvSpPr>
          <p:cNvPr id="7" name="TextBox 6"/>
          <p:cNvSpPr txBox="1"/>
          <p:nvPr/>
        </p:nvSpPr>
        <p:spPr>
          <a:xfrm>
            <a:off x="502920" y="1508760"/>
            <a:ext cx="3840480" cy="4389120"/>
          </a:xfrm>
          <a:prstGeom prst="rect">
            <a:avLst/>
          </a:prstGeom>
          <a:noFill/>
        </p:spPr>
        <p:txBody>
          <a:bodyPr wrap="none">
            <a:spAutoFit/>
          </a:bodyPr>
          <a:lstStyle/>
          <a:p>
            <a:pPr>
              <a:spcAft>
                <a:spcPts val="800"/>
              </a:spcAft>
              <a:defRPr sz="1700">
                <a:solidFill>
                  <a:srgbClr val="212529"/>
                </a:solidFill>
              </a:defRPr>
            </a:pPr>
            <a:r>
              <a:t>Scan or upload the certificate image</a:t>
            </a:r>
          </a:p>
          <a:p>
            <a:pPr>
              <a:spcAft>
                <a:spcPts val="800"/>
              </a:spcAft>
              <a:defRPr sz="1700">
                <a:solidFill>
                  <a:srgbClr val="212529"/>
                </a:solidFill>
              </a:defRPr>
            </a:pPr>
            <a:r>
              <a:t>OCR suggests field values; staff verify and correct</a:t>
            </a:r>
          </a:p>
          <a:p>
            <a:pPr>
              <a:spcAft>
                <a:spcPts val="800"/>
              </a:spcAft>
              <a:defRPr sz="1700">
                <a:solidFill>
                  <a:srgbClr val="212529"/>
                </a:solidFill>
              </a:defRPr>
            </a:pPr>
            <a:r>
              <a:t>Save to Archiving—image and data stored together on the PC</a:t>
            </a:r>
          </a:p>
        </p:txBody>
      </p:sp>
      <p:sp>
        <p:nvSpPr>
          <p:cNvPr id="8" name="TextBox 7"/>
          <p:cNvSpPr txBox="1"/>
          <p:nvPr/>
        </p:nvSpPr>
        <p:spPr>
          <a:xfrm>
            <a:off x="4754880" y="1097280"/>
            <a:ext cx="3840480" cy="411480"/>
          </a:xfrm>
          <a:prstGeom prst="rect">
            <a:avLst/>
          </a:prstGeom>
          <a:noFill/>
        </p:spPr>
        <p:txBody>
          <a:bodyPr wrap="square">
            <a:spAutoFit/>
          </a:bodyPr>
          <a:lstStyle/>
          <a:p>
            <a:pPr algn="l">
              <a:defRPr sz="1800" b="1">
                <a:solidFill>
                  <a:srgbClr val="003366"/>
                </a:solidFill>
              </a:defRPr>
            </a:pPr>
            <a:r>
              <a:t>T</a:t>
            </a:r>
          </a:p>
        </p:txBody>
      </p:sp>
      <p:sp>
        <p:nvSpPr>
          <p:cNvPr id="9" name="TextBox 8"/>
          <p:cNvSpPr txBox="1"/>
          <p:nvPr/>
        </p:nvSpPr>
        <p:spPr>
          <a:xfrm>
            <a:off x="4754880" y="1508760"/>
            <a:ext cx="3840480" cy="4389120"/>
          </a:xfrm>
          <a:prstGeom prst="rect">
            <a:avLst/>
          </a:prstGeom>
          <a:noFill/>
        </p:spPr>
        <p:txBody>
          <a:bodyPr wrap="none">
            <a:spAutoFit/>
          </a:bodyPr>
          <a:lstStyle/>
          <a:p>
            <a:pPr>
              <a:spcAft>
                <a:spcPts val="800"/>
              </a:spcAft>
              <a:defRPr sz="1700">
                <a:solidFill>
                  <a:srgbClr val="005A3C"/>
                </a:solidFill>
              </a:defRPr>
            </a:pPr>
            <a:r>
              <a:t>h</a:t>
            </a:r>
          </a:p>
        </p:txBody>
      </p:sp>
      <p:sp>
        <p:nvSpPr>
          <p:cNvPr id="10" name="Rectangle 9"/>
          <p:cNvSpPr/>
          <p:nvPr/>
        </p:nvSpPr>
        <p:spPr>
          <a:xfrm>
            <a:off x="4526280" y="1188720"/>
            <a:ext cx="36576" cy="47548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Before vs After — Search, print, and corrections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8</a:t>
            </a:r>
          </a:p>
        </p:txBody>
      </p:sp>
      <p:sp>
        <p:nvSpPr>
          <p:cNvPr id="6" name="TextBox 5"/>
          <p:cNvSpPr txBox="1"/>
          <p:nvPr/>
        </p:nvSpPr>
        <p:spPr>
          <a:xfrm>
            <a:off x="502920" y="1097280"/>
            <a:ext cx="3840480" cy="411480"/>
          </a:xfrm>
          <a:prstGeom prst="rect">
            <a:avLst/>
          </a:prstGeom>
          <a:noFill/>
        </p:spPr>
        <p:txBody>
          <a:bodyPr wrap="square">
            <a:spAutoFit/>
          </a:bodyPr>
          <a:lstStyle/>
          <a:p>
            <a:pPr algn="l">
              <a:defRPr sz="1800" b="1">
                <a:solidFill>
                  <a:srgbClr val="003366"/>
                </a:solidFill>
              </a:defRPr>
            </a:pPr>
            <a:r>
              <a:t>WITH THE SYSTEM</a:t>
            </a:r>
          </a:p>
        </p:txBody>
      </p:sp>
      <p:sp>
        <p:nvSpPr>
          <p:cNvPr id="7" name="TextBox 6"/>
          <p:cNvSpPr txBox="1"/>
          <p:nvPr/>
        </p:nvSpPr>
        <p:spPr>
          <a:xfrm>
            <a:off x="502920" y="1508760"/>
            <a:ext cx="3840480" cy="4389120"/>
          </a:xfrm>
          <a:prstGeom prst="rect">
            <a:avLst/>
          </a:prstGeom>
          <a:noFill/>
        </p:spPr>
        <p:txBody>
          <a:bodyPr wrap="none">
            <a:spAutoFit/>
          </a:bodyPr>
          <a:lstStyle/>
          <a:p>
            <a:pPr>
              <a:spcAft>
                <a:spcPts val="800"/>
              </a:spcAft>
              <a:defRPr sz="1700">
                <a:solidFill>
                  <a:srgbClr val="212529"/>
                </a:solidFill>
              </a:defRPr>
            </a:pPr>
            <a:r>
              <a:t>Search by registry number or name; view scan + data on screen</a:t>
            </a:r>
          </a:p>
          <a:p>
            <a:pPr>
              <a:spcAft>
                <a:spcPts val="800"/>
              </a:spcAft>
              <a:defRPr sz="1700">
                <a:solidFill>
                  <a:srgbClr val="212529"/>
                </a:solidFill>
              </a:defRPr>
            </a:pPr>
            <a:r>
              <a:t>Print with automatic log of who printed and when</a:t>
            </a:r>
          </a:p>
          <a:p>
            <a:pPr>
              <a:spcAft>
                <a:spcPts val="800"/>
              </a:spcAft>
              <a:defRPr sz="1700">
                <a:solidFill>
                  <a:srgbClr val="212529"/>
                </a:solidFill>
              </a:defRPr>
            </a:pPr>
            <a:r>
              <a:t>Edit request → you approve → one-time code → staff correct once</a:t>
            </a:r>
          </a:p>
        </p:txBody>
      </p:sp>
      <p:sp>
        <p:nvSpPr>
          <p:cNvPr id="8" name="TextBox 7"/>
          <p:cNvSpPr txBox="1"/>
          <p:nvPr/>
        </p:nvSpPr>
        <p:spPr>
          <a:xfrm>
            <a:off x="4754880" y="1097280"/>
            <a:ext cx="3840480" cy="411480"/>
          </a:xfrm>
          <a:prstGeom prst="rect">
            <a:avLst/>
          </a:prstGeom>
          <a:noFill/>
        </p:spPr>
        <p:txBody>
          <a:bodyPr wrap="square">
            <a:spAutoFit/>
          </a:bodyPr>
          <a:lstStyle/>
          <a:p>
            <a:pPr algn="l">
              <a:defRPr sz="1800" b="1">
                <a:solidFill>
                  <a:srgbClr val="003366"/>
                </a:solidFill>
              </a:defRPr>
            </a:pPr>
            <a:r>
              <a:t>W</a:t>
            </a:r>
          </a:p>
        </p:txBody>
      </p:sp>
      <p:sp>
        <p:nvSpPr>
          <p:cNvPr id="9" name="TextBox 8"/>
          <p:cNvSpPr txBox="1"/>
          <p:nvPr/>
        </p:nvSpPr>
        <p:spPr>
          <a:xfrm>
            <a:off x="4754880" y="1508760"/>
            <a:ext cx="3840480" cy="4389120"/>
          </a:xfrm>
          <a:prstGeom prst="rect">
            <a:avLst/>
          </a:prstGeom>
          <a:noFill/>
        </p:spPr>
        <p:txBody>
          <a:bodyPr wrap="none">
            <a:spAutoFit/>
          </a:bodyPr>
          <a:lstStyle/>
          <a:p>
            <a:pPr>
              <a:spcAft>
                <a:spcPts val="800"/>
              </a:spcAft>
              <a:defRPr sz="1700">
                <a:solidFill>
                  <a:srgbClr val="005A3C"/>
                </a:solidFill>
              </a:defRPr>
            </a:pPr>
            <a:r>
              <a:t>e</a:t>
            </a:r>
          </a:p>
        </p:txBody>
      </p:sp>
      <p:sp>
        <p:nvSpPr>
          <p:cNvPr id="10" name="Rectangle 9"/>
          <p:cNvSpPr/>
          <p:nvPr/>
        </p:nvSpPr>
        <p:spPr>
          <a:xfrm>
            <a:off x="4526280" y="1188720"/>
            <a:ext cx="36576" cy="47548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Project Status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9</a:t>
            </a:r>
          </a:p>
        </p:txBody>
      </p:sp>
      <p:sp>
        <p:nvSpPr>
          <p:cNvPr id="6" name="TextBox 5"/>
          <p:cNvSpPr txBox="1"/>
          <p:nvPr/>
        </p:nvSpPr>
        <p:spPr>
          <a:xfrm>
            <a:off x="594360" y="1024128"/>
            <a:ext cx="7772400" cy="365760"/>
          </a:xfrm>
          <a:prstGeom prst="rect">
            <a:avLst/>
          </a:prstGeom>
          <a:noFill/>
        </p:spPr>
        <p:txBody>
          <a:bodyPr wrap="square">
            <a:spAutoFit/>
          </a:bodyPr>
          <a:lstStyle/>
          <a:p>
            <a:pPr algn="l">
              <a:defRPr sz="1500" b="0">
                <a:solidFill>
                  <a:srgbClr val="5A646E"/>
                </a:solidFill>
              </a:defRPr>
            </a:pPr>
            <a:r>
              <a:t>Important: this is a prototype, not a finished deployment</a:t>
            </a:r>
          </a:p>
        </p:txBody>
      </p:sp>
      <p:sp>
        <p:nvSpPr>
          <p:cNvPr id="7" name="TextBox 6"/>
          <p:cNvSpPr txBox="1"/>
          <p:nvPr/>
        </p:nvSpPr>
        <p:spPr>
          <a:xfrm>
            <a:off x="594360" y="1417320"/>
            <a:ext cx="7955279" cy="4754880"/>
          </a:xfrm>
          <a:prstGeom prst="rect">
            <a:avLst/>
          </a:prstGeom>
          <a:noFill/>
        </p:spPr>
        <p:txBody>
          <a:bodyPr wrap="none">
            <a:spAutoFit/>
          </a:bodyPr>
          <a:lstStyle/>
          <a:p>
            <a:pPr>
              <a:spcAft>
                <a:spcPts val="800"/>
              </a:spcAft>
              <a:defRPr sz="2100">
                <a:solidFill>
                  <a:srgbClr val="212529"/>
                </a:solidFill>
              </a:defRPr>
            </a:pPr>
            <a:r>
              <a:t>We present a working prototype for demonstration and feedback</a:t>
            </a:r>
          </a:p>
          <a:p>
            <a:pPr>
              <a:spcAft>
                <a:spcPts val="800"/>
              </a:spcAft>
              <a:defRPr sz="2100">
                <a:solidFill>
                  <a:srgbClr val="212529"/>
                </a:solidFill>
              </a:defRPr>
            </a:pPr>
            <a:r>
              <a:t>Some features may still be improved (e.g. OCR accuracy, death certificate fields)</a:t>
            </a:r>
          </a:p>
          <a:p>
            <a:pPr>
              <a:spcAft>
                <a:spcPts val="800"/>
              </a:spcAft>
              <a:defRPr sz="2100">
                <a:solidFill>
                  <a:srgbClr val="212529"/>
                </a:solidFill>
              </a:defRPr>
            </a:pPr>
            <a:r>
              <a:t>We welcome your suggestions before full use in the office</a:t>
            </a:r>
          </a:p>
          <a:p>
            <a:pPr>
              <a:spcAft>
                <a:spcPts val="800"/>
              </a:spcAft>
              <a:defRPr sz="2100">
                <a:solidFill>
                  <a:srgbClr val="212529"/>
                </a:solidFill>
              </a:defRPr>
            </a:pPr>
            <a:r>
              <a:t>Paper records remain the legal source per your policies; this system supports daily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Demonstration</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10</a:t>
            </a:r>
          </a:p>
        </p:txBody>
      </p:sp>
      <p:sp>
        <p:nvSpPr>
          <p:cNvPr id="6" name="TextBox 5"/>
          <p:cNvSpPr txBox="1"/>
          <p:nvPr/>
        </p:nvSpPr>
        <p:spPr>
          <a:xfrm>
            <a:off x="594360" y="1051560"/>
            <a:ext cx="7772400" cy="411480"/>
          </a:xfrm>
          <a:prstGeom prst="rect">
            <a:avLst/>
          </a:prstGeom>
          <a:noFill/>
        </p:spPr>
        <p:txBody>
          <a:bodyPr wrap="square">
            <a:spAutoFit/>
          </a:bodyPr>
          <a:lstStyle/>
          <a:p>
            <a:pPr algn="l">
              <a:defRPr sz="1600" b="0">
                <a:solidFill>
                  <a:srgbClr val="5A646E"/>
                </a:solidFill>
              </a:defRPr>
            </a:pPr>
            <a:r>
              <a:t>What we will show now (approx. 5–7 minutes)</a:t>
            </a:r>
          </a:p>
        </p:txBody>
      </p:sp>
      <p:sp>
        <p:nvSpPr>
          <p:cNvPr id="7" name="TextBox 6"/>
          <p:cNvSpPr txBox="1"/>
          <p:nvPr/>
        </p:nvSpPr>
        <p:spPr>
          <a:xfrm>
            <a:off x="594360" y="1508760"/>
            <a:ext cx="7955279" cy="4114800"/>
          </a:xfrm>
          <a:prstGeom prst="rect">
            <a:avLst/>
          </a:prstGeom>
          <a:noFill/>
        </p:spPr>
        <p:txBody>
          <a:bodyPr wrap="none">
            <a:spAutoFit/>
          </a:bodyPr>
          <a:lstStyle/>
          <a:p>
            <a:pPr>
              <a:spcAft>
                <a:spcPts val="800"/>
              </a:spcAft>
              <a:defRPr sz="2200">
                <a:solidFill>
                  <a:srgbClr val="212529"/>
                </a:solidFill>
              </a:defRPr>
            </a:pPr>
            <a:r>
              <a:t>Staff login → Search record (e.g. Birth 34125-07-RE330) → Print (logged)</a:t>
            </a:r>
          </a:p>
          <a:p>
            <a:pPr>
              <a:spcAft>
                <a:spcPts val="800"/>
              </a:spcAft>
              <a:defRPr sz="2200">
                <a:solidFill>
                  <a:srgbClr val="212529"/>
                </a:solidFill>
              </a:defRPr>
            </a:pPr>
            <a:r>
              <a:t>Request edit → Administrator approves → Staff applies correction with code</a:t>
            </a:r>
          </a:p>
          <a:p>
            <a:pPr>
              <a:spcAft>
                <a:spcPts val="800"/>
              </a:spcAft>
              <a:defRPr sz="2200">
                <a:solidFill>
                  <a:srgbClr val="212529"/>
                </a:solidFill>
              </a:defRPr>
            </a:pPr>
            <a:r>
              <a:t>Brief look at Scan Workflow and Administration logs</a:t>
            </a:r>
          </a:p>
          <a:p>
            <a:pPr>
              <a:spcAft>
                <a:spcPts val="800"/>
              </a:spcAft>
              <a:defRPr sz="2200">
                <a:solidFill>
                  <a:srgbClr val="212529"/>
                </a:solidFill>
              </a:defRPr>
            </a:pPr>
            <a:r>
              <a:t>System: http://127.0.0.1:5001  |  Demo: staff / admin accounts</a:t>
            </a:r>
          </a:p>
        </p:txBody>
      </p:sp>
      <p:sp>
        <p:nvSpPr>
          <p:cNvPr id="8" name="Rectangle 7"/>
          <p:cNvSpPr/>
          <p:nvPr/>
        </p:nvSpPr>
        <p:spPr>
          <a:xfrm>
            <a:off x="594360" y="5669280"/>
            <a:ext cx="2286000" cy="45720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LIVE DEMO — switch to browser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548640" y="640080"/>
            <a:ext cx="8046720" cy="731520"/>
          </a:xfrm>
          <a:prstGeom prst="rect">
            <a:avLst/>
          </a:prstGeom>
          <a:noFill/>
        </p:spPr>
        <p:txBody>
          <a:bodyPr wrap="square">
            <a:spAutoFit/>
          </a:bodyPr>
          <a:lstStyle/>
          <a:p>
            <a:pPr algn="ctr">
              <a:defRPr sz="3800" b="1">
                <a:solidFill>
                  <a:srgbClr val="FFFFFF"/>
                </a:solidFill>
              </a:defRPr>
            </a:pPr>
            <a:r>
              <a:t>Thank You</a:t>
            </a:r>
          </a:p>
        </p:txBody>
      </p:sp>
      <p:sp>
        <p:nvSpPr>
          <p:cNvPr id="3" name="TextBox 2"/>
          <p:cNvSpPr txBox="1"/>
          <p:nvPr/>
        </p:nvSpPr>
        <p:spPr>
          <a:xfrm>
            <a:off x="822960" y="1508760"/>
            <a:ext cx="7498079" cy="2926080"/>
          </a:xfrm>
          <a:prstGeom prst="rect">
            <a:avLst/>
          </a:prstGeom>
          <a:noFill/>
        </p:spPr>
        <p:txBody>
          <a:bodyPr wrap="none">
            <a:spAutoFit/>
          </a:bodyPr>
          <a:lstStyle/>
          <a:p>
            <a:pPr>
              <a:spcAft>
                <a:spcPts val="800"/>
              </a:spcAft>
              <a:defRPr sz="1900">
                <a:solidFill>
                  <a:srgbClr val="E6EBF0"/>
                </a:solidFill>
              </a:defRPr>
            </a:pPr>
            <a:r>
              <a:t>Prototype for LGU Daraga Municipal Civil Registry — Birth, Marriage, Death</a:t>
            </a:r>
          </a:p>
          <a:p>
            <a:pPr>
              <a:spcAft>
                <a:spcPts val="800"/>
              </a:spcAft>
              <a:defRPr sz="1900">
                <a:solidFill>
                  <a:srgbClr val="E6EBF0"/>
                </a:solidFill>
              </a:defRPr>
            </a:pPr>
            <a:r>
              <a:t>Offline, searchable archive with controlled corrections and print logging</a:t>
            </a:r>
          </a:p>
          <a:p>
            <a:pPr>
              <a:spcAft>
                <a:spcPts val="800"/>
              </a:spcAft>
              <a:defRPr sz="1900">
                <a:solidFill>
                  <a:srgbClr val="E6EBF0"/>
                </a:solidFill>
              </a:defRPr>
            </a:pPr>
            <a:r>
              <a:t>Built to follow your workflow — before and after comparison, not panel-style technical defense</a:t>
            </a:r>
          </a:p>
          <a:p>
            <a:pPr>
              <a:spcAft>
                <a:spcPts val="800"/>
              </a:spcAft>
              <a:defRPr sz="1900">
                <a:solidFill>
                  <a:srgbClr val="E6EBF0"/>
                </a:solidFill>
              </a:defRPr>
            </a:pPr>
            <a:r>
              <a:t>We welcome your questions and feedback</a:t>
            </a:r>
          </a:p>
        </p:txBody>
      </p:sp>
      <p:sp>
        <p:nvSpPr>
          <p:cNvPr id="4" name="TextBox 3"/>
          <p:cNvSpPr txBox="1"/>
          <p:nvPr/>
        </p:nvSpPr>
        <p:spPr>
          <a:xfrm>
            <a:off x="914400" y="4663440"/>
            <a:ext cx="7315200" cy="347472"/>
          </a:xfrm>
          <a:prstGeom prst="rect">
            <a:avLst/>
          </a:prstGeom>
          <a:noFill/>
        </p:spPr>
        <p:txBody>
          <a:bodyPr wrap="square">
            <a:spAutoFit/>
          </a:bodyPr>
          <a:lstStyle/>
          <a:p>
            <a:pPr algn="ctr">
              <a:defRPr sz="1400" b="0">
                <a:solidFill>
                  <a:srgbClr val="B48C28"/>
                </a:solidFill>
              </a:defRPr>
            </a:pPr>
            <a:r>
              <a:t>Presented by:</a:t>
            </a:r>
          </a:p>
        </p:txBody>
      </p:sp>
      <p:sp>
        <p:nvSpPr>
          <p:cNvPr id="5" name="TextBox 4"/>
          <p:cNvSpPr txBox="1"/>
          <p:nvPr/>
        </p:nvSpPr>
        <p:spPr>
          <a:xfrm>
            <a:off x="914400" y="4956048"/>
            <a:ext cx="7315200" cy="347472"/>
          </a:xfrm>
          <a:prstGeom prst="rect">
            <a:avLst/>
          </a:prstGeom>
          <a:noFill/>
        </p:spPr>
        <p:txBody>
          <a:bodyPr wrap="square">
            <a:spAutoFit/>
          </a:bodyPr>
          <a:lstStyle/>
          <a:p>
            <a:pPr algn="ctr">
              <a:defRPr sz="1400" b="0">
                <a:solidFill>
                  <a:srgbClr val="FFFFFF"/>
                </a:solidFill>
              </a:defRPr>
            </a:pPr>
            <a:r>
              <a:t>Mark Jhon M. Guillermo</a:t>
            </a:r>
          </a:p>
        </p:txBody>
      </p:sp>
      <p:sp>
        <p:nvSpPr>
          <p:cNvPr id="6" name="TextBox 5"/>
          <p:cNvSpPr txBox="1"/>
          <p:nvPr/>
        </p:nvSpPr>
        <p:spPr>
          <a:xfrm>
            <a:off x="914400" y="5248656"/>
            <a:ext cx="7315200" cy="347472"/>
          </a:xfrm>
          <a:prstGeom prst="rect">
            <a:avLst/>
          </a:prstGeom>
          <a:noFill/>
        </p:spPr>
        <p:txBody>
          <a:bodyPr wrap="square">
            <a:spAutoFit/>
          </a:bodyPr>
          <a:lstStyle/>
          <a:p>
            <a:pPr algn="ctr">
              <a:defRPr sz="1400" b="0">
                <a:solidFill>
                  <a:srgbClr val="FFFFFF"/>
                </a:solidFill>
              </a:defRPr>
            </a:pPr>
            <a:r>
              <a:t>Rod B. Rañola</a:t>
            </a:r>
          </a:p>
        </p:txBody>
      </p:sp>
      <p:sp>
        <p:nvSpPr>
          <p:cNvPr id="7" name="TextBox 6"/>
          <p:cNvSpPr txBox="1"/>
          <p:nvPr/>
        </p:nvSpPr>
        <p:spPr>
          <a:xfrm>
            <a:off x="914400" y="5541264"/>
            <a:ext cx="7315200" cy="347472"/>
          </a:xfrm>
          <a:prstGeom prst="rect">
            <a:avLst/>
          </a:prstGeom>
          <a:noFill/>
        </p:spPr>
        <p:txBody>
          <a:bodyPr wrap="square">
            <a:spAutoFit/>
          </a:bodyPr>
          <a:lstStyle/>
          <a:p>
            <a:pPr algn="ctr">
              <a:defRPr sz="1400" b="0">
                <a:solidFill>
                  <a:srgbClr val="FFFFFF"/>
                </a:solidFill>
              </a:defRPr>
            </a:pPr>
            <a:r>
              <a:t>Vincent S. Macauyam</a:t>
            </a:r>
          </a:p>
        </p:txBody>
      </p:sp>
      <p:sp>
        <p:nvSpPr>
          <p:cNvPr id="8" name="TextBox 7"/>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