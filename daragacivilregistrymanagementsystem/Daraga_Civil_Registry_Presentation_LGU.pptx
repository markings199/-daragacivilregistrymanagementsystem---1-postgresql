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Honorable Municipal Civil Registrar, Ma'am/Sir. Thank you very much for granting us this opportunity to present before you and your office.</a:t>
            </a:r>
          </a:p>
          <a:p/>
          <a:p>
            <a:r>
              <a:t>Today we will walk you through the Daraga Civil Registry Management System—a tool we developed specifically for the Municipal Civil Registry of Daraga, Albay. In the next ten minutes, we will first cover the background and purpose of the project, then demonstrate the system live on this computer, the same way your staff would use it in the office.</a:t>
            </a:r>
          </a:p>
          <a:p/>
          <a:p>
            <a:r>
              <a:t>Our goal is to show you how the system supports your mandate to register, keep, and release birth, marriage, and death records—securely, locally, and with clear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day, your office processes birth, marriage, and death documents. Much of that work still relies on physical folders, manual encoding, and careful reading of each certificate. When a client or an agency requests a copy, staff must locate the record, verify the details, and often re-type information by hand.</a:t>
            </a:r>
          </a:p>
          <a:p/>
          <a:p>
            <a:r>
              <a:t>That process is correct under registry practice, but it is slow and heavy on staff when volume is high. At the same time, vital records contain sensitive personal information—so any digital solution must stay inside the office, not on the internet.</a:t>
            </a:r>
          </a:p>
          <a:p/>
          <a:p>
            <a:r>
              <a:t>This project was undertaken to help your office digitize certificates, store them in a searchable archive, print with a clear record of who printed what, and correct errors only through a formal approval process—while keeping all data on the office computer.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set five clear objectives aligned with how the civil registry actually works.</a:t>
            </a:r>
          </a:p>
          <a:p/>
          <a:p>
            <a:r>
              <a:t>First, to digitize birth, marriage, and death certificates using local optical character recognition—staff scan or upload an image, and the system reads key fields into a form for review. No data is sent to external servers.</a:t>
            </a:r>
          </a:p>
          <a:p/>
          <a:p>
            <a:r>
              <a:t>Second, to archive each record so the scanned certificate and the encoded data stay linked in one place—your digital vault on this machine.</a:t>
            </a:r>
          </a:p>
          <a:p/>
          <a:p>
            <a:r>
              <a:t>Third, to let staff search quickly by registry number, name, document type, or date, and to print when needed, with a log of who printed and when.</a:t>
            </a:r>
          </a:p>
          <a:p/>
          <a:p>
            <a:r>
              <a:t>Fourth, to protect data integrity: staff cannot freely edit archived records. They request a correction; the administrator reviews and approves, and only then can staff make the change using a one-time approval code.</a:t>
            </a:r>
          </a:p>
          <a:p/>
          <a:p>
            <a:r>
              <a:t>Fifth, the entire system runs offline on the office PC, for privacy, reliability, and compliance with the sensitive nature of vital records.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covers the three vital documents under your office: birth, marriage, and death certificates.</a:t>
            </a:r>
          </a:p>
          <a:p/>
          <a:p>
            <a:r>
              <a:t>Staff use it for daily work: scanning or uploading new documents, reviewing OCR results, saving to the archive, searching records, printing for clients or agencies, and submitting edit requests when they find mistakes.</a:t>
            </a:r>
          </a:p>
          <a:p/>
          <a:p>
            <a:r>
              <a:t>The administrator role is for oversight—typically the Municipal Civil Registrar or an authorized supervisor. Admins approve correction requests, manage user accounts, review print and audit logs, perform backup and restore, and handle permanent deletion from the archive when policy allows.</a:t>
            </a:r>
          </a:p>
          <a:p/>
          <a:p>
            <a:r>
              <a:t>We designed the forms around PSA-style fields familiar to your encoders. OCR quality depends on scan clarity; staff always verify before saving.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civil registry data is highly sensitive, security and privacy guided every design choice.</a:t>
            </a:r>
          </a:p>
          <a:p/>
          <a:p>
            <a:r>
              <a:t>The application runs entirely on the office computer. Images and records are not uploaded to the cloud. Encoding, OCR, storage, and printing all happen locally.</a:t>
            </a:r>
          </a:p>
          <a:p/>
          <a:p>
            <a:r>
              <a:t>Staff cannot silently change archived records. If a field is wrong, they file an edit request with a reason. The record stays locked until an administrator reviews and either approves or rejects it.</a:t>
            </a:r>
          </a:p>
          <a:p/>
          <a:p>
            <a:r>
              <a:t>On approval, the system generates a one-time five-digit code. Only the requesting staff member can use it, once, to unlock that single record for editing.</a:t>
            </a:r>
          </a:p>
          <a:p/>
          <a:p>
            <a:r>
              <a:t>Every print is logged. Important actions appear in the audit log. Backup and restore are available to administrators for disaster recovery.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it fits your daily workflow in simple terms.</a:t>
            </a:r>
          </a:p>
          <a:p/>
          <a:p>
            <a:r>
              <a:t>For a new certificate, staff scan or upload the image, the system runs local OCR, and staff review and correct the auto-filled form before confirming. The record then goes to Archiving—the digital vault.</a:t>
            </a:r>
          </a:p>
          <a:p/>
          <a:p>
            <a:r>
              <a:t>For existing records, staff use Search to find an entry, view the certificate image beside the encoded data, and print when needed. Each print is logged.</a:t>
            </a:r>
          </a:p>
          <a:p/>
          <a:p>
            <a:r>
              <a:t>If a correction is required, staff submit an edit request. The administrator verifies against the original, approves, and issues the one-time code. Staff apply the correction once.</a:t>
            </a:r>
          </a:p>
          <a:p/>
          <a:p>
            <a:r>
              <a:t>Paper records remain your legal source of truth per policy; this system supports speed, accuracy, and accountability in day-to-day operations.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now move from the slides to a live demonstration on this computer.</a:t>
            </a:r>
          </a:p>
          <a:p/>
          <a:p>
            <a:r>
              <a:t>First, we will log in as staff and show search, viewing a record, printing with logging, and requesting an edit. We will briefly show how new documents enter the system through the scan workflow.</a:t>
            </a:r>
          </a:p>
          <a:p/>
          <a:p>
            <a:r>
              <a:t>Then we will switch to the administrator account to approve that edit request and show oversight through print and audit logs.</a:t>
            </a:r>
          </a:p>
          <a:p/>
          <a:p>
            <a:r>
              <a:t>Sample records are already loaded so we can complete everything within our ten-minute schedule. Ma'am/Sir, please watch the screen.</a:t>
            </a:r>
          </a:p>
          <a:p/>
          <a:p>
            <a:r>
              <a:t>[ACTION: Switch to browser at http://127.0.0.1:5001]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login screen branded for the Municipal Civil Registry of Daraga. Each user signs in with their own account and role.</a:t>
            </a:r>
          </a:p>
          <a:p/>
          <a:p>
            <a:r>
              <a:t>[ACTION: Log in as staff. Point to sidebar menu.]</a:t>
            </a:r>
          </a:p>
          <a:p/>
          <a:p>
            <a:r>
              <a:t>On the left you see Scan Workflow for new certificates, Archiving for saved records, Search Records for quick lookup, and My Edit Requests for correction requests.</a:t>
            </a:r>
          </a:p>
          <a:p/>
          <a:p>
            <a:r>
              <a:t>Staff can digitize, find, and print records. They do not have permission to change archived data on their own—that stays under administrator control.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 Open Search Records → Birth Certificate → search 34125-07-RE330 → open result.]</a:t>
            </a:r>
          </a:p>
          <a:p/>
          <a:p>
            <a:r>
              <a:t>When a client or agency needs information, staff open Search Records, select the document type, and search.</a:t>
            </a:r>
          </a:p>
          <a:p/>
          <a:p>
            <a:r>
              <a:t>On the record page you see the scanned image of the certificate and the structured data: name, dates, parents, registry number, and other PSA-style fields.</a:t>
            </a:r>
          </a:p>
          <a:p/>
          <a:p>
            <a:r>
              <a:t>Your encoder can verify against the image without walking to the vault for every inquiry. That is faster retrieval with certificate and data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 Click Print → show preview → Cancel.]</a:t>
            </a:r>
          </a:p>
          <a:p/>
          <a:p>
            <a:r>
              <a:t>When staff need to produce a copy, they use Print from this record page.</a:t>
            </a:r>
          </a:p>
          <a:p/>
          <a:p>
            <a:r>
              <a:t>Every print is recorded: which user, which record, and when. That appears in the administrator's print log.</a:t>
            </a:r>
          </a:p>
          <a:p/>
          <a:p>
            <a:r>
              <a:t>This adds a digital trail behind each print from the system—it does not replace your existing release procedures where signatures are required.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 Request edit → reason: Typo in child's name; verified against original certificate → Submit → My Edit Requests → PENDING.]</a:t>
            </a:r>
          </a:p>
          <a:p/>
          <a:p>
            <a:r>
              <a:t>If staff find an error, they do not edit the archive directly. They submit a request with a clear reason.</a:t>
            </a:r>
          </a:p>
          <a:p/>
          <a:p>
            <a:r>
              <a:t>The record remains locked until you, as administrator, review it. This protects the integrity of the civil registry.</a:t>
            </a:r>
          </a:p>
          <a:p/>
          <a:p>
            <a:r>
              <a:t>We will switch to the administrator account next to approve this request.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 Open Scan Workflow → show Upload and Scan from printer. Do not wait for long OCR.]</a:t>
            </a:r>
          </a:p>
          <a:p/>
          <a:p>
            <a:r>
              <a:t>For brand-new documents, staff use Scan Workflow, choose the type, upload or scan, then local OCR fills a review form.</a:t>
            </a:r>
          </a:p>
          <a:p/>
          <a:p>
            <a:r>
              <a:t>Staff correct mistakes and confirm to Archiving. No internet is required. Human verification is always required—OCR is only an assistant.</a:t>
            </a:r>
          </a:p>
          <a:p/>
          <a:p>
            <a:r>
              <a:t>For today's demo we prepared sample records in advance to stay on schedule.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 Switch to admin browser → Administration → Edit requests → Approve → show 5-digit code.]</a:t>
            </a:r>
          </a:p>
          <a:p/>
          <a:p>
            <a:r>
              <a:t>As Municipal Civil Registrar or designated supervisor, you see pending requests on the Dashboard and under Edit requests.</a:t>
            </a:r>
          </a:p>
          <a:p/>
          <a:p>
            <a:r>
              <a:t>After verifying against the certificate, you Approve. The system generates a one-time five-digit code only the requesting staff can use once.</a:t>
            </a:r>
          </a:p>
          <a:p/>
          <a:p>
            <a:r>
              <a:t>Please note the code—we will use it on the staff account next.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 Staff browser → Unlock → enter code → edit one field → Save → USED.]</a:t>
            </a:r>
          </a:p>
          <a:p/>
          <a:p>
            <a:r>
              <a:t>Staff enter the code, make the correction, and save. The code is consumed. Any further change requires a new request and your new approval.</a:t>
            </a:r>
          </a:p>
          <a:p/>
          <a:p>
            <a:r>
              <a:t>The system retains who requested, who approved, when, and what was changed.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 Administration → Print logs → Audit log (brief scroll).]</a:t>
            </a:r>
          </a:p>
          <a:p/>
          <a:p>
            <a:r>
              <a:t>In Print logs you see the print we demonstrated earlier. The Audit log records significant events.</a:t>
            </a:r>
          </a:p>
          <a:p/>
          <a:p>
            <a:r>
              <a:t>Administrators also manage user accounts and backup/restore the local database. Together these support accountability and continuity for the Municipal Civil Registry.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Ma'am/Sir, let us close with a brief summary.</a:t>
            </a:r>
          </a:p>
          <a:p/>
          <a:p>
            <a:r>
              <a:t>The Daraga Civil Registry Management System helps your office digitize vital records using offline OCR, keep a searchable archive, print with a clear log, and correct records only through your approval with a secure one-time code.</a:t>
            </a:r>
          </a:p>
          <a:p/>
          <a:p>
            <a:r>
              <a:t>It is designed for the Municipal Civil Registry of Daraga, Albay: secure, local, and aligned with how registry offices protect vital records while serving the public.</a:t>
            </a:r>
          </a:p>
          <a:p/>
          <a:p>
            <a:r>
              <a:t>We respectfully welcome your questions, comments, and guidance before deployment to your workstations.</a:t>
            </a:r>
          </a:p>
          <a:p/>
          <a:p>
            <a:r>
              <a:t>Thank you again, Honorable Municipal Civil Registrar, for your time and attention. We are ready for your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548640" y="1097280"/>
            <a:ext cx="8046720" cy="1097280"/>
          </a:xfrm>
          <a:prstGeom prst="rect">
            <a:avLst/>
          </a:prstGeom>
          <a:noFill/>
        </p:spPr>
        <p:txBody>
          <a:bodyPr wrap="square">
            <a:spAutoFit/>
          </a:bodyPr>
          <a:lstStyle/>
          <a:p>
            <a:pPr algn="ctr">
              <a:defRPr sz="3600" b="1">
                <a:solidFill>
                  <a:srgbClr val="FFFFFF"/>
                </a:solidFill>
              </a:defRPr>
            </a:pPr>
            <a:r>
              <a:t>Daraga Civil Registry Management System</a:t>
            </a:r>
          </a:p>
        </p:txBody>
      </p:sp>
      <p:sp>
        <p:nvSpPr>
          <p:cNvPr id="3" name="TextBox 2"/>
          <p:cNvSpPr txBox="1"/>
          <p:nvPr/>
        </p:nvSpPr>
        <p:spPr>
          <a:xfrm>
            <a:off x="548640" y="2148840"/>
            <a:ext cx="8046720" cy="640080"/>
          </a:xfrm>
          <a:prstGeom prst="rect">
            <a:avLst/>
          </a:prstGeom>
          <a:noFill/>
        </p:spPr>
        <p:txBody>
          <a:bodyPr wrap="square">
            <a:spAutoFit/>
          </a:bodyPr>
          <a:lstStyle/>
          <a:p>
            <a:pPr algn="ctr">
              <a:defRPr sz="2000" b="0">
                <a:solidFill>
                  <a:srgbClr val="B48C28"/>
                </a:solidFill>
              </a:defRPr>
            </a:pPr>
            <a:r>
              <a:t>Municipal Civil Registry Office — LGU Daraga, Albay</a:t>
            </a:r>
          </a:p>
        </p:txBody>
      </p:sp>
      <p:sp>
        <p:nvSpPr>
          <p:cNvPr id="4" name="TextBox 3"/>
          <p:cNvSpPr txBox="1"/>
          <p:nvPr/>
        </p:nvSpPr>
        <p:spPr>
          <a:xfrm>
            <a:off x="1097280" y="2926080"/>
            <a:ext cx="6949440" cy="411480"/>
          </a:xfrm>
          <a:prstGeom prst="rect">
            <a:avLst/>
          </a:prstGeom>
          <a:noFill/>
        </p:spPr>
        <p:txBody>
          <a:bodyPr wrap="square">
            <a:spAutoFit/>
          </a:bodyPr>
          <a:lstStyle/>
          <a:p>
            <a:pPr algn="ctr">
              <a:defRPr sz="1500" b="1">
                <a:solidFill>
                  <a:srgbClr val="FFFFFF"/>
                </a:solidFill>
              </a:defRPr>
            </a:pPr>
            <a:r>
              <a:t>Client Presentation — Municipal Civil Registrar</a:t>
            </a:r>
          </a:p>
        </p:txBody>
      </p:sp>
      <p:sp>
        <p:nvSpPr>
          <p:cNvPr id="5" name="TextBox 4"/>
          <p:cNvSpPr txBox="1"/>
          <p:nvPr/>
        </p:nvSpPr>
        <p:spPr>
          <a:xfrm>
            <a:off x="1097280" y="3273552"/>
            <a:ext cx="6949440" cy="411480"/>
          </a:xfrm>
          <a:prstGeom prst="rect">
            <a:avLst/>
          </a:prstGeom>
          <a:noFill/>
        </p:spPr>
        <p:txBody>
          <a:bodyPr wrap="square">
            <a:spAutoFit/>
          </a:bodyPr>
          <a:lstStyle/>
          <a:p>
            <a:pPr algn="ctr">
              <a:defRPr sz="1600" b="0">
                <a:solidFill>
                  <a:srgbClr val="DCE1E6"/>
                </a:solidFill>
              </a:defRPr>
            </a:pPr>
            <a:r>
              <a:t>May 25, 2026</a:t>
            </a:r>
          </a:p>
        </p:txBody>
      </p:sp>
      <p:sp>
        <p:nvSpPr>
          <p:cNvPr id="6" name="TextBox 5"/>
          <p:cNvSpPr txBox="1"/>
          <p:nvPr/>
        </p:nvSpPr>
        <p:spPr>
          <a:xfrm>
            <a:off x="1097280" y="3758184"/>
            <a:ext cx="6949440" cy="411480"/>
          </a:xfrm>
          <a:prstGeom prst="rect">
            <a:avLst/>
          </a:prstGeom>
          <a:noFill/>
        </p:spPr>
        <p:txBody>
          <a:bodyPr wrap="square">
            <a:spAutoFit/>
          </a:bodyPr>
          <a:lstStyle/>
          <a:p>
            <a:pPr algn="ctr">
              <a:defRPr sz="1500" b="1">
                <a:solidFill>
                  <a:srgbClr val="FFFFFF"/>
                </a:solidFill>
              </a:defRPr>
            </a:pPr>
            <a:r>
              <a:t>Presented by:</a:t>
            </a:r>
          </a:p>
        </p:txBody>
      </p:sp>
      <p:sp>
        <p:nvSpPr>
          <p:cNvPr id="7" name="TextBox 6"/>
          <p:cNvSpPr txBox="1"/>
          <p:nvPr/>
        </p:nvSpPr>
        <p:spPr>
          <a:xfrm>
            <a:off x="1097280" y="4105656"/>
            <a:ext cx="6949440" cy="411480"/>
          </a:xfrm>
          <a:prstGeom prst="rect">
            <a:avLst/>
          </a:prstGeom>
          <a:noFill/>
        </p:spPr>
        <p:txBody>
          <a:bodyPr wrap="square">
            <a:spAutoFit/>
          </a:bodyPr>
          <a:lstStyle/>
          <a:p>
            <a:pPr algn="ctr">
              <a:defRPr sz="1600" b="0">
                <a:solidFill>
                  <a:srgbClr val="DCE1E6"/>
                </a:solidFill>
              </a:defRPr>
            </a:pPr>
            <a:r>
              <a:t>Mark Jhon M. Guillermo</a:t>
            </a:r>
          </a:p>
        </p:txBody>
      </p:sp>
      <p:sp>
        <p:nvSpPr>
          <p:cNvPr id="8" name="TextBox 7"/>
          <p:cNvSpPr txBox="1"/>
          <p:nvPr/>
        </p:nvSpPr>
        <p:spPr>
          <a:xfrm>
            <a:off x="1097280" y="4453128"/>
            <a:ext cx="6949440" cy="411480"/>
          </a:xfrm>
          <a:prstGeom prst="rect">
            <a:avLst/>
          </a:prstGeom>
          <a:noFill/>
        </p:spPr>
        <p:txBody>
          <a:bodyPr wrap="square">
            <a:spAutoFit/>
          </a:bodyPr>
          <a:lstStyle/>
          <a:p>
            <a:pPr algn="ctr">
              <a:defRPr sz="1600" b="0">
                <a:solidFill>
                  <a:srgbClr val="DCE1E6"/>
                </a:solidFill>
              </a:defRPr>
            </a:pPr>
            <a:r>
              <a:t>Rod B. Rañola</a:t>
            </a:r>
          </a:p>
        </p:txBody>
      </p:sp>
      <p:sp>
        <p:nvSpPr>
          <p:cNvPr id="9" name="TextBox 8"/>
          <p:cNvSpPr txBox="1"/>
          <p:nvPr/>
        </p:nvSpPr>
        <p:spPr>
          <a:xfrm>
            <a:off x="1097280" y="4800600"/>
            <a:ext cx="6949440" cy="411480"/>
          </a:xfrm>
          <a:prstGeom prst="rect">
            <a:avLst/>
          </a:prstGeom>
          <a:noFill/>
        </p:spPr>
        <p:txBody>
          <a:bodyPr wrap="square">
            <a:spAutoFit/>
          </a:bodyPr>
          <a:lstStyle/>
          <a:p>
            <a:pPr algn="ctr">
              <a:defRPr sz="1600" b="0">
                <a:solidFill>
                  <a:srgbClr val="DCE1E6"/>
                </a:solidFill>
              </a:defRPr>
            </a:pPr>
            <a:r>
              <a:t>Vincent S. Macauyam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Background — Why This Project</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Vital records (Birth, Marriage, Death) are still largely paper-based</a:t>
            </a:r>
          </a:p>
          <a:p>
            <a:pPr>
              <a:spcAft>
                <a:spcPts val="1000"/>
              </a:spcAft>
              <a:defRPr sz="2200">
                <a:solidFill>
                  <a:srgbClr val="212529"/>
                </a:solidFill>
              </a:defRPr>
            </a:pPr>
            <a:r>
              <a:t>Retrieval, encoding, and corrections take time and manual reading</a:t>
            </a:r>
          </a:p>
          <a:p>
            <a:pPr>
              <a:spcAft>
                <a:spcPts val="1000"/>
              </a:spcAft>
              <a:defRPr sz="2200">
                <a:solidFill>
                  <a:srgbClr val="212529"/>
                </a:solidFill>
              </a:defRPr>
            </a:pPr>
            <a:r>
              <a:t>The office needs a secure, local tool—not cloud-based</a:t>
            </a:r>
          </a:p>
        </p:txBody>
      </p:sp>
      <p:sp>
        <p:nvSpPr>
          <p:cNvPr id="6" name="TextBox 5"/>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Project Objectives</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Digitize PSA-format certificates using local OCR (scan or upload)</a:t>
            </a:r>
          </a:p>
          <a:p>
            <a:pPr>
              <a:spcAft>
                <a:spcPts val="1000"/>
              </a:spcAft>
              <a:defRPr sz="2200">
                <a:solidFill>
                  <a:srgbClr val="212529"/>
                </a:solidFill>
              </a:defRPr>
            </a:pPr>
            <a:r>
              <a:t>Archive records with linked scanned images and structured data</a:t>
            </a:r>
          </a:p>
          <a:p>
            <a:pPr>
              <a:spcAft>
                <a:spcPts val="1000"/>
              </a:spcAft>
              <a:defRPr sz="2200">
                <a:solidFill>
                  <a:srgbClr val="212529"/>
                </a:solidFill>
              </a:defRPr>
            </a:pPr>
            <a:r>
              <a:t>Search and print with accountability (who, what, when)</a:t>
            </a:r>
          </a:p>
          <a:p>
            <a:pPr>
              <a:spcAft>
                <a:spcPts val="1000"/>
              </a:spcAft>
              <a:defRPr sz="2200">
                <a:solidFill>
                  <a:srgbClr val="212529"/>
                </a:solidFill>
              </a:defRPr>
            </a:pPr>
            <a:r>
              <a:t>Control corrections — staff request, administrator approves</a:t>
            </a:r>
          </a:p>
          <a:p>
            <a:pPr>
              <a:spcAft>
                <a:spcPts val="1000"/>
              </a:spcAft>
              <a:defRPr sz="2200">
                <a:solidFill>
                  <a:srgbClr val="212529"/>
                </a:solidFill>
              </a:defRPr>
            </a:pPr>
            <a:r>
              <a:t>Operate fully offline for data privacy and reliability</a:t>
            </a:r>
          </a:p>
        </p:txBody>
      </p:sp>
      <p:sp>
        <p:nvSpPr>
          <p:cNvPr id="6" name="TextBox 5"/>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Scope of the System</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Document types: Birth, Marriage, and Death certificates</a:t>
            </a:r>
          </a:p>
          <a:p>
            <a:pPr>
              <a:spcAft>
                <a:spcPts val="1000"/>
              </a:spcAft>
              <a:defRPr sz="2200">
                <a:solidFill>
                  <a:srgbClr val="212529"/>
                </a:solidFill>
              </a:defRPr>
            </a:pPr>
            <a:r>
              <a:t>Staff: Scan, encode, search, print, request edits</a:t>
            </a:r>
          </a:p>
          <a:p>
            <a:pPr>
              <a:spcAft>
                <a:spcPts val="1000"/>
              </a:spcAft>
              <a:defRPr sz="2200">
                <a:solidFill>
                  <a:srgbClr val="212529"/>
                </a:solidFill>
              </a:defRPr>
            </a:pPr>
            <a:r>
              <a:t>Administrator: Approve edits, users, logs, backup &amp; restore</a:t>
            </a:r>
          </a:p>
          <a:p>
            <a:pPr>
              <a:spcAft>
                <a:spcPts val="1000"/>
              </a:spcAft>
              <a:defRPr sz="2200">
                <a:solidFill>
                  <a:srgbClr val="212529"/>
                </a:solidFill>
              </a:defRPr>
            </a:pPr>
            <a:r>
              <a:t>Logs: Print log and audit log for accountability</a:t>
            </a:r>
          </a:p>
        </p:txBody>
      </p:sp>
      <p:sp>
        <p:nvSpPr>
          <p:cNvPr id="6" name="TextBox 5"/>
          <p:cNvSpPr txBox="1"/>
          <p:nvPr/>
        </p:nvSpPr>
        <p:spPr>
          <a:xfrm>
            <a:off x="594360" y="5394960"/>
            <a:ext cx="7772400" cy="457200"/>
          </a:xfrm>
          <a:prstGeom prst="rect">
            <a:avLst/>
          </a:prstGeom>
          <a:noFill/>
        </p:spPr>
        <p:txBody>
          <a:bodyPr wrap="square">
            <a:spAutoFit/>
          </a:bodyPr>
          <a:lstStyle/>
          <a:p>
            <a:pPr algn="l">
              <a:defRPr sz="1200" b="0">
                <a:solidFill>
                  <a:srgbClr val="5A646E"/>
                </a:solidFill>
              </a:defRPr>
            </a:pPr>
            <a:r>
              <a:t>Note: Some death-certificate fields may require manual entry if OCR is uncertain.</a:t>
            </a:r>
          </a:p>
        </p:txBody>
      </p:sp>
      <p:sp>
        <p:nvSpPr>
          <p:cNvPr id="7" name="TextBox 6"/>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Security &amp; Privacy</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Offline operation — no upload to external servers</a:t>
            </a:r>
          </a:p>
          <a:p>
            <a:pPr>
              <a:spcAft>
                <a:spcPts val="1000"/>
              </a:spcAft>
              <a:defRPr sz="2200">
                <a:solidFill>
                  <a:srgbClr val="212529"/>
                </a:solidFill>
              </a:defRPr>
            </a:pPr>
            <a:r>
              <a:t>Role-based access — Staff and Administrator</a:t>
            </a:r>
          </a:p>
          <a:p>
            <a:pPr>
              <a:spcAft>
                <a:spcPts val="1000"/>
              </a:spcAft>
              <a:defRPr sz="2200">
                <a:solidFill>
                  <a:srgbClr val="212529"/>
                </a:solidFill>
              </a:defRPr>
            </a:pPr>
            <a:r>
              <a:t>Edit workflow: Request → Approve → One-time code → Single edit</a:t>
            </a:r>
          </a:p>
          <a:p>
            <a:pPr>
              <a:spcAft>
                <a:spcPts val="1000"/>
              </a:spcAft>
              <a:defRPr sz="2200">
                <a:solidFill>
                  <a:srgbClr val="212529"/>
                </a:solidFill>
              </a:defRPr>
            </a:pPr>
            <a:r>
              <a:t>Print log and audit log for accountability</a:t>
            </a:r>
          </a:p>
          <a:p>
            <a:pPr>
              <a:spcAft>
                <a:spcPts val="1000"/>
              </a:spcAft>
              <a:defRPr sz="2200">
                <a:solidFill>
                  <a:srgbClr val="212529"/>
                </a:solidFill>
              </a:defRPr>
            </a:pPr>
            <a:r>
              <a:t>Local database stored on the office PC</a:t>
            </a:r>
          </a:p>
        </p:txBody>
      </p:sp>
      <p:sp>
        <p:nvSpPr>
          <p:cNvPr id="6" name="TextBox 5"/>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How It Fits Your Office</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New record: Scan/Upload → OCR review → Archiving</a:t>
            </a:r>
          </a:p>
          <a:p>
            <a:pPr>
              <a:spcAft>
                <a:spcPts val="1000"/>
              </a:spcAft>
              <a:defRPr sz="2200">
                <a:solidFill>
                  <a:srgbClr val="212529"/>
                </a:solidFill>
              </a:defRPr>
            </a:pPr>
            <a:r>
              <a:t>Daily use: Search / Print (each print logged)</a:t>
            </a:r>
          </a:p>
          <a:p>
            <a:pPr>
              <a:spcAft>
                <a:spcPts val="1000"/>
              </a:spcAft>
              <a:defRPr sz="2200">
                <a:solidFill>
                  <a:srgbClr val="212529"/>
                </a:solidFill>
              </a:defRPr>
            </a:pPr>
            <a:r>
              <a:t>Corrections: Edit request → Admin approval → Corrected record</a:t>
            </a:r>
          </a:p>
          <a:p>
            <a:pPr>
              <a:spcAft>
                <a:spcPts val="1000"/>
              </a:spcAft>
              <a:defRPr sz="2200">
                <a:solidFill>
                  <a:srgbClr val="212529"/>
                </a:solidFill>
              </a:defRPr>
            </a:pPr>
            <a:r>
              <a:t>Paper records remain the legal source per office policy</a:t>
            </a:r>
          </a:p>
        </p:txBody>
      </p:sp>
      <p:sp>
        <p:nvSpPr>
          <p:cNvPr id="6" name="TextBox 5"/>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Live Demonstration</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Part 1 — Staff: search, print, request edit, scan workflow</a:t>
            </a:r>
          </a:p>
          <a:p>
            <a:pPr>
              <a:spcAft>
                <a:spcPts val="1000"/>
              </a:spcAft>
              <a:defRPr sz="2200">
                <a:solidFill>
                  <a:srgbClr val="212529"/>
                </a:solidFill>
              </a:defRPr>
            </a:pPr>
            <a:r>
              <a:t>Part 2 — Administrator: approve edit, review logs</a:t>
            </a:r>
          </a:p>
          <a:p>
            <a:pPr>
              <a:spcAft>
                <a:spcPts val="1000"/>
              </a:spcAft>
              <a:defRPr sz="2200">
                <a:solidFill>
                  <a:srgbClr val="212529"/>
                </a:solidFill>
              </a:defRPr>
            </a:pPr>
            <a:r>
              <a:t>Sample records pre-loaded for this session</a:t>
            </a:r>
          </a:p>
          <a:p>
            <a:pPr>
              <a:spcAft>
                <a:spcPts val="1000"/>
              </a:spcAft>
              <a:defRPr sz="2200">
                <a:solidFill>
                  <a:srgbClr val="212529"/>
                </a:solidFill>
              </a:defRPr>
            </a:pPr>
            <a:r>
              <a:t>System URL: http://127.0.0.1:5001</a:t>
            </a:r>
          </a:p>
        </p:txBody>
      </p:sp>
      <p:sp>
        <p:nvSpPr>
          <p:cNvPr id="6" name="TextBox 5"/>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Live Demo — Staff Login &amp; Dashboard</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Login: staff / staff123 (demo account)</a:t>
            </a:r>
          </a:p>
          <a:p>
            <a:pPr>
              <a:spcAft>
                <a:spcPts val="1000"/>
              </a:spcAft>
              <a:defRPr sz="2200">
                <a:solidFill>
                  <a:srgbClr val="212529"/>
                </a:solidFill>
              </a:defRPr>
            </a:pPr>
            <a:r>
              <a:t>Menu: Scan Workflow, Archiving, Search Records, My Edit Requests</a:t>
            </a:r>
          </a:p>
          <a:p>
            <a:pPr>
              <a:spcAft>
                <a:spcPts val="1000"/>
              </a:spcAft>
              <a:defRPr sz="2200">
                <a:solidFill>
                  <a:srgbClr val="212529"/>
                </a:solidFill>
              </a:defRPr>
            </a:pPr>
            <a:r>
              <a:t>Staff cannot change archived data without approval</a:t>
            </a:r>
          </a:p>
        </p:txBody>
      </p:sp>
      <p:sp>
        <p:nvSpPr>
          <p:cNvPr id="6" name="Rectangle 5"/>
          <p:cNvSpPr/>
          <p:nvPr/>
        </p:nvSpPr>
        <p:spPr>
          <a:xfrm>
            <a:off x="594360" y="5806440"/>
            <a:ext cx="2926080" cy="411480"/>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LIVE DEMO  </a:t>
            </a:r>
          </a:p>
        </p:txBody>
      </p:sp>
      <p:sp>
        <p:nvSpPr>
          <p:cNvPr id="7" name="TextBox 6"/>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Live Demo — Search &amp; View Record</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Search by registry number, name, type, or date</a:t>
            </a:r>
          </a:p>
          <a:p>
            <a:pPr>
              <a:spcAft>
                <a:spcPts val="1000"/>
              </a:spcAft>
              <a:defRPr sz="2200">
                <a:solidFill>
                  <a:srgbClr val="212529"/>
                </a:solidFill>
              </a:defRPr>
            </a:pPr>
            <a:r>
              <a:t>Sample: Birth — Registry No. 34125-07-RE330</a:t>
            </a:r>
          </a:p>
          <a:p>
            <a:pPr>
              <a:spcAft>
                <a:spcPts val="1000"/>
              </a:spcAft>
              <a:defRPr sz="2200">
                <a:solidFill>
                  <a:srgbClr val="212529"/>
                </a:solidFill>
              </a:defRPr>
            </a:pPr>
            <a:r>
              <a:t>Certificate image + extracted data shown together</a:t>
            </a:r>
          </a:p>
        </p:txBody>
      </p:sp>
      <p:sp>
        <p:nvSpPr>
          <p:cNvPr id="6" name="Rectangle 5"/>
          <p:cNvSpPr/>
          <p:nvPr/>
        </p:nvSpPr>
        <p:spPr>
          <a:xfrm>
            <a:off x="594360" y="5806440"/>
            <a:ext cx="2926080" cy="411480"/>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LIVE DEMO  </a:t>
            </a:r>
          </a:p>
        </p:txBody>
      </p:sp>
      <p:sp>
        <p:nvSpPr>
          <p:cNvPr id="7" name="TextBox 6"/>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Live Demo — Print with Accountability</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Print from record detail page</a:t>
            </a:r>
          </a:p>
          <a:p>
            <a:pPr>
              <a:spcAft>
                <a:spcPts val="1000"/>
              </a:spcAft>
              <a:defRPr sz="2200">
                <a:solidFill>
                  <a:srgbClr val="212529"/>
                </a:solidFill>
              </a:defRPr>
            </a:pPr>
            <a:r>
              <a:t>Every print logged: user, record, date/time</a:t>
            </a:r>
          </a:p>
          <a:p>
            <a:pPr>
              <a:spcAft>
                <a:spcPts val="1000"/>
              </a:spcAft>
              <a:defRPr sz="2200">
                <a:solidFill>
                  <a:srgbClr val="212529"/>
                </a:solidFill>
              </a:defRPr>
            </a:pPr>
            <a:r>
              <a:t>Supports accountability when releasing copies</a:t>
            </a:r>
          </a:p>
        </p:txBody>
      </p:sp>
      <p:sp>
        <p:nvSpPr>
          <p:cNvPr id="6" name="Rectangle 5"/>
          <p:cNvSpPr/>
          <p:nvPr/>
        </p:nvSpPr>
        <p:spPr>
          <a:xfrm>
            <a:off x="594360" y="5806440"/>
            <a:ext cx="2926080" cy="411480"/>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LIVE DEMO  </a:t>
            </a:r>
          </a:p>
        </p:txBody>
      </p:sp>
      <p:sp>
        <p:nvSpPr>
          <p:cNvPr id="7" name="TextBox 6"/>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Live Demo — Request an Edit</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Staff click Request edit — record stays locked</a:t>
            </a:r>
          </a:p>
          <a:p>
            <a:pPr>
              <a:spcAft>
                <a:spcPts val="1000"/>
              </a:spcAft>
              <a:defRPr sz="2200">
                <a:solidFill>
                  <a:srgbClr val="212529"/>
                </a:solidFill>
              </a:defRPr>
            </a:pPr>
            <a:r>
              <a:t>Enter reason (e.g. typo verified against certificate)</a:t>
            </a:r>
          </a:p>
          <a:p>
            <a:pPr>
              <a:spcAft>
                <a:spcPts val="1000"/>
              </a:spcAft>
              <a:defRPr sz="2200">
                <a:solidFill>
                  <a:srgbClr val="212529"/>
                </a:solidFill>
              </a:defRPr>
            </a:pPr>
            <a:r>
              <a:t>Status: PENDING until administrator approves</a:t>
            </a:r>
          </a:p>
        </p:txBody>
      </p:sp>
      <p:sp>
        <p:nvSpPr>
          <p:cNvPr id="6" name="Rectangle 5"/>
          <p:cNvSpPr/>
          <p:nvPr/>
        </p:nvSpPr>
        <p:spPr>
          <a:xfrm>
            <a:off x="594360" y="5806440"/>
            <a:ext cx="2926080" cy="411480"/>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LIVE DEMO  </a:t>
            </a:r>
          </a:p>
        </p:txBody>
      </p:sp>
      <p:sp>
        <p:nvSpPr>
          <p:cNvPr id="7" name="TextBox 6"/>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Live Demo — Scan Workflow (New Documents)</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Select Birth, Marriage, or Death</a:t>
            </a:r>
          </a:p>
          <a:p>
            <a:pPr>
              <a:spcAft>
                <a:spcPts val="1000"/>
              </a:spcAft>
              <a:defRPr sz="2200">
                <a:solidFill>
                  <a:srgbClr val="212529"/>
                </a:solidFill>
              </a:defRPr>
            </a:pPr>
            <a:r>
              <a:t>Upload file or Scan from printer</a:t>
            </a:r>
          </a:p>
          <a:p>
            <a:pPr>
              <a:spcAft>
                <a:spcPts val="1000"/>
              </a:spcAft>
              <a:defRPr sz="2200">
                <a:solidFill>
                  <a:srgbClr val="212529"/>
                </a:solidFill>
              </a:defRPr>
            </a:pPr>
            <a:r>
              <a:t>Local OCR → review form → save to Archiving</a:t>
            </a:r>
          </a:p>
        </p:txBody>
      </p:sp>
      <p:sp>
        <p:nvSpPr>
          <p:cNvPr id="6" name="Rectangle 5"/>
          <p:cNvSpPr/>
          <p:nvPr/>
        </p:nvSpPr>
        <p:spPr>
          <a:xfrm>
            <a:off x="594360" y="5806440"/>
            <a:ext cx="2926080" cy="411480"/>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LIVE DEMO  </a:t>
            </a:r>
          </a:p>
        </p:txBody>
      </p:sp>
      <p:sp>
        <p:nvSpPr>
          <p:cNvPr id="7" name="TextBox 6"/>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Live Demo — Administrator Approval</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Login: admin / admin123 (demo account)</a:t>
            </a:r>
          </a:p>
          <a:p>
            <a:pPr>
              <a:spcAft>
                <a:spcPts val="1000"/>
              </a:spcAft>
              <a:defRPr sz="2200">
                <a:solidFill>
                  <a:srgbClr val="212529"/>
                </a:solidFill>
              </a:defRPr>
            </a:pPr>
            <a:r>
              <a:t>Administration → Edit requests → Approve</a:t>
            </a:r>
          </a:p>
          <a:p>
            <a:pPr>
              <a:spcAft>
                <a:spcPts val="1000"/>
              </a:spcAft>
              <a:defRPr sz="2200">
                <a:solidFill>
                  <a:srgbClr val="212529"/>
                </a:solidFill>
              </a:defRPr>
            </a:pPr>
            <a:r>
              <a:t>One-time 5-digit code issued to requesting staff</a:t>
            </a:r>
          </a:p>
        </p:txBody>
      </p:sp>
      <p:sp>
        <p:nvSpPr>
          <p:cNvPr id="6" name="Rectangle 5"/>
          <p:cNvSpPr/>
          <p:nvPr/>
        </p:nvSpPr>
        <p:spPr>
          <a:xfrm>
            <a:off x="594360" y="5806440"/>
            <a:ext cx="2926080" cy="411480"/>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LIVE DEMO  </a:t>
            </a:r>
          </a:p>
        </p:txBody>
      </p:sp>
      <p:sp>
        <p:nvSpPr>
          <p:cNvPr id="7" name="TextBox 6"/>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Live Demo — Staff Completes Edit</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My Edit Requests → Unlock with approval code</a:t>
            </a:r>
          </a:p>
          <a:p>
            <a:pPr>
              <a:spcAft>
                <a:spcPts val="1000"/>
              </a:spcAft>
              <a:defRPr sz="2200">
                <a:solidFill>
                  <a:srgbClr val="212529"/>
                </a:solidFill>
              </a:defRPr>
            </a:pPr>
            <a:r>
              <a:t>Correct field → Save → Code marked USED</a:t>
            </a:r>
          </a:p>
          <a:p>
            <a:pPr>
              <a:spcAft>
                <a:spcPts val="1000"/>
              </a:spcAft>
              <a:defRPr sz="2200">
                <a:solidFill>
                  <a:srgbClr val="212529"/>
                </a:solidFill>
              </a:defRPr>
            </a:pPr>
            <a:r>
              <a:t>Further changes require new request and approval</a:t>
            </a:r>
          </a:p>
        </p:txBody>
      </p:sp>
      <p:sp>
        <p:nvSpPr>
          <p:cNvPr id="6" name="Rectangle 5"/>
          <p:cNvSpPr/>
          <p:nvPr/>
        </p:nvSpPr>
        <p:spPr>
          <a:xfrm>
            <a:off x="594360" y="5806440"/>
            <a:ext cx="2926080" cy="411480"/>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LIVE DEMO  </a:t>
            </a:r>
          </a:p>
        </p:txBody>
      </p:sp>
      <p:sp>
        <p:nvSpPr>
          <p:cNvPr id="7" name="TextBox 6"/>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640080"/>
          </a:xfrm>
          <a:prstGeom prst="rect">
            <a:avLst/>
          </a:prstGeom>
          <a:noFill/>
        </p:spPr>
        <p:txBody>
          <a:bodyPr wrap="square">
            <a:spAutoFit/>
          </a:bodyPr>
          <a:lstStyle/>
          <a:p>
            <a:pPr algn="l">
              <a:defRPr sz="2800" b="1">
                <a:solidFill>
                  <a:srgbClr val="FFFFFF"/>
                </a:solidFill>
              </a:defRPr>
            </a:pPr>
            <a:r>
              <a:t>Live Demo — Print &amp; Audit Logs</a:t>
            </a:r>
          </a:p>
        </p:txBody>
      </p:sp>
      <p:sp>
        <p:nvSpPr>
          <p:cNvPr id="4" name="Rectangle 3"/>
          <p:cNvSpPr/>
          <p:nvPr/>
        </p:nvSpPr>
        <p:spPr>
          <a:xfrm>
            <a:off x="0" y="960120"/>
            <a:ext cx="9144000" cy="54864"/>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7955279" cy="4389120"/>
          </a:xfrm>
          <a:prstGeom prst="rect">
            <a:avLst/>
          </a:prstGeom>
          <a:noFill/>
        </p:spPr>
        <p:txBody>
          <a:bodyPr wrap="square">
            <a:spAutoFit/>
          </a:bodyPr>
          <a:lstStyle/>
          <a:p>
            <a:pPr>
              <a:spcAft>
                <a:spcPts val="1000"/>
              </a:spcAft>
              <a:defRPr sz="2200">
                <a:solidFill>
                  <a:srgbClr val="212529"/>
                </a:solidFill>
              </a:defRPr>
            </a:pPr>
            <a:r>
              <a:t>Print logs — who printed which record and when</a:t>
            </a:r>
          </a:p>
          <a:p>
            <a:pPr>
              <a:spcAft>
                <a:spcPts val="1000"/>
              </a:spcAft>
              <a:defRPr sz="2200">
                <a:solidFill>
                  <a:srgbClr val="212529"/>
                </a:solidFill>
              </a:defRPr>
            </a:pPr>
            <a:r>
              <a:t>Audit log — logins, edits, user changes, deletions</a:t>
            </a:r>
          </a:p>
          <a:p>
            <a:pPr>
              <a:spcAft>
                <a:spcPts val="1000"/>
              </a:spcAft>
              <a:defRPr sz="2200">
                <a:solidFill>
                  <a:srgbClr val="212529"/>
                </a:solidFill>
              </a:defRPr>
            </a:pPr>
            <a:r>
              <a:t>Backup/Restore and user management (admin)</a:t>
            </a:r>
          </a:p>
        </p:txBody>
      </p:sp>
      <p:sp>
        <p:nvSpPr>
          <p:cNvPr id="6" name="Rectangle 5"/>
          <p:cNvSpPr/>
          <p:nvPr/>
        </p:nvSpPr>
        <p:spPr>
          <a:xfrm>
            <a:off x="594360" y="5806440"/>
            <a:ext cx="2926080" cy="411480"/>
          </a:xfrm>
          <a:prstGeom prst="rect">
            <a:avLst/>
          </a:prstGeom>
          <a:solidFill>
            <a:srgbClr val="B4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LIVE DEMO  </a:t>
            </a:r>
          </a:p>
        </p:txBody>
      </p:sp>
      <p:sp>
        <p:nvSpPr>
          <p:cNvPr id="7" name="TextBox 6"/>
          <p:cNvSpPr txBox="1"/>
          <p:nvPr/>
        </p:nvSpPr>
        <p:spPr>
          <a:xfrm>
            <a:off x="8229600" y="6400800"/>
            <a:ext cx="731520" cy="320040"/>
          </a:xfrm>
          <a:prstGeom prst="rect">
            <a:avLst/>
          </a:prstGeom>
          <a:noFill/>
        </p:spPr>
        <p:txBody>
          <a:bodyPr wrap="square">
            <a:spAutoFit/>
          </a:bodyPr>
          <a:lstStyle/>
          <a:p>
            <a:pPr algn="r">
              <a:defRPr sz="1000" b="0">
                <a:solidFill>
                  <a:srgbClr val="5A646E"/>
                </a:solidFil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548640" y="731520"/>
            <a:ext cx="8046720" cy="822960"/>
          </a:xfrm>
          <a:prstGeom prst="rect">
            <a:avLst/>
          </a:prstGeom>
          <a:noFill/>
        </p:spPr>
        <p:txBody>
          <a:bodyPr wrap="square">
            <a:spAutoFit/>
          </a:bodyPr>
          <a:lstStyle/>
          <a:p>
            <a:pPr algn="ctr">
              <a:defRPr sz="4000" b="1">
                <a:solidFill>
                  <a:srgbClr val="FFFFFF"/>
                </a:solidFill>
              </a:defRPr>
            </a:pPr>
            <a:r>
              <a:t>Thank You</a:t>
            </a:r>
          </a:p>
        </p:txBody>
      </p:sp>
      <p:sp>
        <p:nvSpPr>
          <p:cNvPr id="3" name="TextBox 2"/>
          <p:cNvSpPr txBox="1"/>
          <p:nvPr/>
        </p:nvSpPr>
        <p:spPr>
          <a:xfrm>
            <a:off x="822960" y="1737360"/>
            <a:ext cx="7498079" cy="3200400"/>
          </a:xfrm>
          <a:prstGeom prst="rect">
            <a:avLst/>
          </a:prstGeom>
          <a:noFill/>
        </p:spPr>
        <p:txBody>
          <a:bodyPr wrap="none">
            <a:spAutoFit/>
          </a:bodyPr>
          <a:lstStyle/>
          <a:p>
            <a:pPr>
              <a:spcAft>
                <a:spcPts val="1000"/>
              </a:spcAft>
              <a:defRPr sz="2000">
                <a:solidFill>
                  <a:srgbClr val="E6EBF0"/>
                </a:solidFill>
              </a:defRPr>
            </a:pPr>
            <a:r>
              <a:t>Offline digitization for Birth, Marriage, and Death</a:t>
            </a:r>
          </a:p>
          <a:p>
            <a:pPr>
              <a:spcAft>
                <a:spcPts val="1000"/>
              </a:spcAft>
              <a:defRPr sz="2000">
                <a:solidFill>
                  <a:srgbClr val="E6EBF0"/>
                </a:solidFill>
              </a:defRPr>
            </a:pPr>
            <a:r>
              <a:t>Searchable archive with print logging</a:t>
            </a:r>
          </a:p>
          <a:p>
            <a:pPr>
              <a:spcAft>
                <a:spcPts val="1000"/>
              </a:spcAft>
              <a:defRPr sz="2000">
                <a:solidFill>
                  <a:srgbClr val="E6EBF0"/>
                </a:solidFill>
              </a:defRPr>
            </a:pPr>
            <a:r>
              <a:t>Corrections only with registrar/administrator approval</a:t>
            </a:r>
          </a:p>
          <a:p>
            <a:pPr>
              <a:spcAft>
                <a:spcPts val="1000"/>
              </a:spcAft>
              <a:defRPr sz="2000">
                <a:solidFill>
                  <a:srgbClr val="E6EBF0"/>
                </a:solidFill>
              </a:defRPr>
            </a:pPr>
            <a:r>
              <a:t>Built for the Municipal Civil Registry of Daraga, Albay</a:t>
            </a:r>
          </a:p>
          <a:p>
            <a:pPr>
              <a:spcAft>
                <a:spcPts val="1000"/>
              </a:spcAft>
              <a:defRPr sz="2000">
                <a:solidFill>
                  <a:srgbClr val="E6EBF0"/>
                </a:solidFill>
              </a:defRPr>
            </a:pPr>
            <a:r>
              <a:t>Questions and feedback are welcome</a:t>
            </a:r>
          </a:p>
        </p:txBody>
      </p:sp>
      <p:sp>
        <p:nvSpPr>
          <p:cNvPr id="4" name="TextBox 3"/>
          <p:cNvSpPr txBox="1"/>
          <p:nvPr/>
        </p:nvSpPr>
        <p:spPr>
          <a:xfrm>
            <a:off x="914400" y="4892040"/>
            <a:ext cx="7315200" cy="365760"/>
          </a:xfrm>
          <a:prstGeom prst="rect">
            <a:avLst/>
          </a:prstGeom>
          <a:noFill/>
        </p:spPr>
        <p:txBody>
          <a:bodyPr wrap="square">
            <a:spAutoFit/>
          </a:bodyPr>
          <a:lstStyle/>
          <a:p>
            <a:pPr algn="ctr">
              <a:defRPr sz="1400" b="0">
                <a:solidFill>
                  <a:srgbClr val="B48C28"/>
                </a:solidFill>
              </a:defRPr>
            </a:pPr>
            <a:r>
              <a:t>Presented by:</a:t>
            </a:r>
          </a:p>
        </p:txBody>
      </p:sp>
      <p:sp>
        <p:nvSpPr>
          <p:cNvPr id="5" name="TextBox 4"/>
          <p:cNvSpPr txBox="1"/>
          <p:nvPr/>
        </p:nvSpPr>
        <p:spPr>
          <a:xfrm>
            <a:off x="914400" y="5184648"/>
            <a:ext cx="7315200" cy="365760"/>
          </a:xfrm>
          <a:prstGeom prst="rect">
            <a:avLst/>
          </a:prstGeom>
          <a:noFill/>
        </p:spPr>
        <p:txBody>
          <a:bodyPr wrap="square">
            <a:spAutoFit/>
          </a:bodyPr>
          <a:lstStyle/>
          <a:p>
            <a:pPr algn="ctr">
              <a:defRPr sz="1400" b="0">
                <a:solidFill>
                  <a:srgbClr val="FFFFFF"/>
                </a:solidFill>
              </a:defRPr>
            </a:pPr>
            <a:r>
              <a:t>Mark Jhon M. Guillermo</a:t>
            </a:r>
          </a:p>
        </p:txBody>
      </p:sp>
      <p:sp>
        <p:nvSpPr>
          <p:cNvPr id="6" name="TextBox 5"/>
          <p:cNvSpPr txBox="1"/>
          <p:nvPr/>
        </p:nvSpPr>
        <p:spPr>
          <a:xfrm>
            <a:off x="914400" y="5477256"/>
            <a:ext cx="7315200" cy="365760"/>
          </a:xfrm>
          <a:prstGeom prst="rect">
            <a:avLst/>
          </a:prstGeom>
          <a:noFill/>
        </p:spPr>
        <p:txBody>
          <a:bodyPr wrap="square">
            <a:spAutoFit/>
          </a:bodyPr>
          <a:lstStyle/>
          <a:p>
            <a:pPr algn="ctr">
              <a:defRPr sz="1400" b="0">
                <a:solidFill>
                  <a:srgbClr val="FFFFFF"/>
                </a:solidFill>
              </a:defRPr>
            </a:pPr>
            <a:r>
              <a:t>Rod B. Rañola</a:t>
            </a:r>
          </a:p>
        </p:txBody>
      </p:sp>
      <p:sp>
        <p:nvSpPr>
          <p:cNvPr id="7" name="TextBox 6"/>
          <p:cNvSpPr txBox="1"/>
          <p:nvPr/>
        </p:nvSpPr>
        <p:spPr>
          <a:xfrm>
            <a:off x="914400" y="5769864"/>
            <a:ext cx="7315200" cy="365760"/>
          </a:xfrm>
          <a:prstGeom prst="rect">
            <a:avLst/>
          </a:prstGeom>
          <a:noFill/>
        </p:spPr>
        <p:txBody>
          <a:bodyPr wrap="square">
            <a:spAutoFit/>
          </a:bodyPr>
          <a:lstStyle/>
          <a:p>
            <a:pPr algn="ctr">
              <a:defRPr sz="1400" b="0">
                <a:solidFill>
                  <a:srgbClr val="FFFFFF"/>
                </a:solidFill>
              </a:defRPr>
            </a:pPr>
            <a:r>
              <a:t>Vincent S. Macauyam</a:t>
            </a:r>
          </a:p>
        </p:txBody>
      </p:sp>
      <p:sp>
        <p:nvSpPr>
          <p:cNvPr id="8" name="TextBox 7"/>
          <p:cNvSpPr txBox="1"/>
          <p:nvPr/>
        </p:nvSpPr>
        <p:spPr>
          <a:xfrm>
            <a:off x="8229600" y="6400800"/>
            <a:ext cx="731520" cy="320040"/>
          </a:xfrm>
          <a:prstGeom prst="rect">
            <a:avLst/>
          </a:prstGeom>
          <a:noFill/>
        </p:spPr>
        <p:txBody>
          <a:bodyPr wrap="square">
            <a:spAutoFit/>
          </a:bodyPr>
          <a:lstStyle/>
          <a:p>
            <a:pPr algn="r">
              <a:defRPr sz="1000" b="0">
                <a:solidFill>
                  <a:srgbClr val="96A0AA"/>
                </a:solidFill>
              </a:defRPr>
            </a:pPr>
            <a: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